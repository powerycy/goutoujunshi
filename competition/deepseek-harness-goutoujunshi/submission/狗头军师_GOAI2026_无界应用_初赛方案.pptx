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e18e0a2e970483f" /><Relationship Type="http://schemas.openxmlformats.org/officeDocument/2006/relationships/extended-properties" Target="/docProps/app.xml" Id="Ra474da6ee43941d1" /><Relationship Type="http://schemas.openxmlformats.org/officeDocument/2006/relationships/officeDocument" Target="/ppt/presentation.xml" Id="Rfd78c614259e435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3b0fece2a4d459d"/>
  </p:sldMasterIdLst>
  <p:notesMasterIdLst>
    <p:notesMasterId xmlns:r="http://schemas.openxmlformats.org/officeDocument/2006/relationships" r:id="R946687d558bc488b"/>
  </p:notesMasterIdLst>
  <p:sldIdLst>
    <p:sldId xmlns:r="http://schemas.openxmlformats.org/officeDocument/2006/relationships" id="256" r:id="Re511ab490f5c49de"/>
    <p:sldId xmlns:r="http://schemas.openxmlformats.org/officeDocument/2006/relationships" id="257" r:id="R2b905188f6134692"/>
    <p:sldId xmlns:r="http://schemas.openxmlformats.org/officeDocument/2006/relationships" id="258" r:id="R3eddbb4006fb42dd"/>
    <p:sldId xmlns:r="http://schemas.openxmlformats.org/officeDocument/2006/relationships" id="259" r:id="Ra59813aebdee419f"/>
    <p:sldId xmlns:r="http://schemas.openxmlformats.org/officeDocument/2006/relationships" id="260" r:id="R7c9e59518b224498"/>
    <p:sldId xmlns:r="http://schemas.openxmlformats.org/officeDocument/2006/relationships" id="261" r:id="Rb86f7459fa8044a7"/>
    <p:sldId xmlns:r="http://schemas.openxmlformats.org/officeDocument/2006/relationships" id="262" r:id="Rc7c40f06d46d489a"/>
    <p:sldId xmlns:r="http://schemas.openxmlformats.org/officeDocument/2006/relationships" id="263" r:id="R473487fb79154584"/>
    <p:sldId xmlns:r="http://schemas.openxmlformats.org/officeDocument/2006/relationships" id="264" r:id="R5fd3eb4dde694929"/>
    <p:sldId xmlns:r="http://schemas.openxmlformats.org/officeDocument/2006/relationships" id="265" r:id="R5c0322be6b6d410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3b9bd4a4a4546de" /><Relationship Type="http://schemas.openxmlformats.org/officeDocument/2006/relationships/slideMaster" Target="/ppt/slideMasters/slideMaster1.xml" Id="Re3b0fece2a4d459d" /><Relationship Type="http://schemas.openxmlformats.org/officeDocument/2006/relationships/notesMaster" Target="/ppt/notesMasters/notesMaster1.xml" Id="R946687d558bc488b" /><Relationship Type="http://schemas.openxmlformats.org/officeDocument/2006/relationships/presProps" Target="/ppt/presProps.xml" Id="Rdf36e3f379fb49e7" /><Relationship Type="http://schemas.openxmlformats.org/officeDocument/2006/relationships/tableStyles" Target="/ppt/tableStyles.xml" Id="Rc73fccf0217c4517" /><Relationship Type="http://schemas.openxmlformats.org/officeDocument/2006/relationships/slide" Target="/ppt/slides/slide1.xml" Id="Re511ab490f5c49de" /><Relationship Type="http://schemas.openxmlformats.org/officeDocument/2006/relationships/slide" Target="/ppt/slides/slide2.xml" Id="R2b905188f6134692" /><Relationship Type="http://schemas.openxmlformats.org/officeDocument/2006/relationships/slide" Target="/ppt/slides/slide3.xml" Id="R3eddbb4006fb42dd" /><Relationship Type="http://schemas.openxmlformats.org/officeDocument/2006/relationships/slide" Target="/ppt/slides/slide4.xml" Id="Ra59813aebdee419f" /><Relationship Type="http://schemas.openxmlformats.org/officeDocument/2006/relationships/slide" Target="/ppt/slides/slide5.xml" Id="R7c9e59518b224498" /><Relationship Type="http://schemas.openxmlformats.org/officeDocument/2006/relationships/slide" Target="/ppt/slides/slide6.xml" Id="Rb86f7459fa8044a7" /><Relationship Type="http://schemas.openxmlformats.org/officeDocument/2006/relationships/slide" Target="/ppt/slides/slide7.xml" Id="Rc7c40f06d46d489a" /><Relationship Type="http://schemas.openxmlformats.org/officeDocument/2006/relationships/slide" Target="/ppt/slides/slide8.xml" Id="R473487fb79154584" /><Relationship Type="http://schemas.openxmlformats.org/officeDocument/2006/relationships/slide" Target="/ppt/slides/slide9.xml" Id="R5fd3eb4dde694929" /><Relationship Type="http://schemas.openxmlformats.org/officeDocument/2006/relationships/slide" Target="/ppt/slides/slide10.xml" Id="R5c0322be6b6d41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8671c642bda4d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2f1134319d74c61" /><Relationship Type="http://schemas.openxmlformats.org/officeDocument/2006/relationships/notesMaster" Target="/ppt/notesMasters/notesMaster1.xml" Id="Rcc70290b5c684fa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86ff005b1c34019" /><Relationship Type="http://schemas.openxmlformats.org/officeDocument/2006/relationships/notesMaster" Target="/ppt/notesMasters/notesMaster1.xml" Id="Rd1e054e691894a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f1123dc7d44715" /><Relationship Type="http://schemas.openxmlformats.org/officeDocument/2006/relationships/notesMaster" Target="/ppt/notesMasters/notesMaster1.xml" Id="Rce55a2b6c669415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3b97363a3764aca" /><Relationship Type="http://schemas.openxmlformats.org/officeDocument/2006/relationships/notesMaster" Target="/ppt/notesMasters/notesMaster1.xml" Id="R8a93ea97abaa475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6963a4af99d4a00" /><Relationship Type="http://schemas.openxmlformats.org/officeDocument/2006/relationships/notesMaster" Target="/ppt/notesMasters/notesMaster1.xml" Id="R31c4cc002bba40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3bb557451f1413c" /><Relationship Type="http://schemas.openxmlformats.org/officeDocument/2006/relationships/notesMaster" Target="/ppt/notesMasters/notesMaster1.xml" Id="R951f3c0d50834e4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4144c4731164992" /><Relationship Type="http://schemas.openxmlformats.org/officeDocument/2006/relationships/notesMaster" Target="/ppt/notesMasters/notesMaster1.xml" Id="Rf2e01d829b93410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969893211e44a67" /><Relationship Type="http://schemas.openxmlformats.org/officeDocument/2006/relationships/notesMaster" Target="/ppt/notesMasters/notesMaster1.xml" Id="Rc2962e0c83a24b1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b5b81c7ef054e91" /><Relationship Type="http://schemas.openxmlformats.org/officeDocument/2006/relationships/notesMaster" Target="/ppt/notesMasters/notesMaster1.xml" Id="R7af1ac3ab3fe45f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d83ec3758bb44b2" /><Relationship Type="http://schemas.openxmlformats.org/officeDocument/2006/relationships/notesMaster" Target="/ppt/notesMasters/notesMaster1.xml" Id="R28deaee39986458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https://goaihz.com/tracks?track=apps — Boundless Agents 赛道定位与初赛要求</a:t>
            </a:r>
          </a:p>
          <a:p xmlns:a="http://schemas.openxmlformats.org/drawingml/2006/main">
            <a:r>
              <a:t>- Local asset: packages/goutoujunshi-plugin/assets/doghead-logo.png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product evidence: artifacts/screenshots/08-temporary-light-desktop.png</a:t>
            </a:r>
          </a:p>
          <a:p xmlns:a="http://schemas.openxmlformats.org/drawingml/2006/main">
            <a:r>
              <a:t>- https://goaihz.com/tracks?track=apps — 赛道要求真实用户流程与任务闭环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implementation: packages/goutoujunshi-plugin/src/client.jsx and domain.js</a:t>
            </a:r>
          </a:p>
          <a:p xmlns:a="http://schemas.openxmlformats.org/drawingml/2006/main">
            <a:r>
              <a:t>- https://goaihz.com/tracks?track=apps — 至少一个可演示、可验证的任务闭环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product evidence: artifacts/screenshots/09-normal-agent-chat-desktop.png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product evidence: artifacts/screenshots/10-kline-desktop.png</a:t>
            </a:r>
          </a:p>
          <a:p xmlns:a="http://schemas.openxmlformats.org/drawingml/2006/main">
            <a:r>
              <a:t>- Local implementation: packages/goutoujunshi-plugin/src/domain.js — evidence-only candle semantics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https://github.com/deepseek-ai/deepseek-harness — 官方 DeepSeek Harness 仓库与 MIT 许可</a:t>
            </a:r>
          </a:p>
          <a:p xmlns:a="http://schemas.openxmlformats.org/drawingml/2006/main">
            <a:r>
              <a:t>- Local version lock: docs/UPSTREAM.md</a:t>
            </a:r>
          </a:p>
          <a:p xmlns:a="http://schemas.openxmlformats.org/drawingml/2006/main">
            <a:r>
              <a:t>- Local product evidence: artifacts/screenshots/11-model-settings.png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safety specification: docs/DATA_AND_SAFETY.md</a:t>
            </a:r>
          </a:p>
          <a:p xmlns:a="http://schemas.openxmlformats.org/drawingml/2006/main">
            <a:r>
              <a:t>- Local product evidence: artifacts/screenshots/13-mobile-chat.png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verification: tests/domain.test.mjs, tests/adapters.test.mjs, scripts/check-readonly.mjs</a:t>
            </a:r>
          </a:p>
          <a:p xmlns:a="http://schemas.openxmlformats.org/drawingml/2006/main">
            <a:r>
              <a:t>- Local product evidence: artifacts/screenshots/14-mobile-kline.png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https://github.com/powerycy/goutoujunshi — 公开仓库</a:t>
            </a:r>
          </a:p>
          <a:p xmlns:a="http://schemas.openxmlformats.org/drawingml/2006/main">
            <a:r>
              <a:t>- Local third-party declaration: THIRD_PARTY_NOTICES.md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https://goaihz.com/tracks?track=apps — Boundless Agents 对可体验、可复制、可落地应用的要求</a:t>
            </a:r>
          </a:p>
          <a:p xmlns:a="http://schemas.openxmlformats.org/drawingml/2006/main">
            <a:r>
              <a:t>- https://github.com/powerycy/goutoujunshi — 项目仓库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fee600785b415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9fd2ffbd3254287" /><Relationship Type="http://schemas.openxmlformats.org/officeDocument/2006/relationships/slideLayout" Target="/ppt/slideLayouts/slideLayout1.xml" Id="R87c89404335844d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c89404335844d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e609062ee2455d" /><Relationship Type="http://schemas.openxmlformats.org/officeDocument/2006/relationships/image" Target="/ppt/media/image.png" Id="R2a187a3fc5b342a4" /><Relationship Type="http://schemas.openxmlformats.org/officeDocument/2006/relationships/notesSlide" Target="/ppt/notesSlides/notesSlide1.xml" Id="R42ba2306905241b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0d5e970bfe40ed" /><Relationship Type="http://schemas.openxmlformats.org/officeDocument/2006/relationships/image" Target="/ppt/media/image.jpeg" Id="Rdaac66c442004fdd" /><Relationship Type="http://schemas.openxmlformats.org/officeDocument/2006/relationships/notesSlide" Target="/ppt/notesSlides/notesSlide2.xml" Id="R430e8773579d41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cb91a46c2f4606" /><Relationship Type="http://schemas.openxmlformats.org/officeDocument/2006/relationships/notesSlide" Target="/ppt/notesSlides/notesSlide3.xml" Id="Ra5dd7996d44e466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3f6eda8535468c" /><Relationship Type="http://schemas.openxmlformats.org/officeDocument/2006/relationships/image" Target="/ppt/media/image2.jpeg" Id="R4f516817a31949ca" /><Relationship Type="http://schemas.openxmlformats.org/officeDocument/2006/relationships/notesSlide" Target="/ppt/notesSlides/notesSlide4.xml" Id="R4e6e13e75d6342c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a0a0b28efa4b7f" /><Relationship Type="http://schemas.openxmlformats.org/officeDocument/2006/relationships/image" Target="/ppt/media/image3.jpeg" Id="R56e8be88e798452a" /><Relationship Type="http://schemas.openxmlformats.org/officeDocument/2006/relationships/notesSlide" Target="/ppt/notesSlides/notesSlide5.xml" Id="R0fb6a3d11fe34f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81fa686aef4d78" /><Relationship Type="http://schemas.openxmlformats.org/officeDocument/2006/relationships/image" Target="/ppt/media/image4.jpeg" Id="Rf6b3e397797e444a" /><Relationship Type="http://schemas.openxmlformats.org/officeDocument/2006/relationships/notesSlide" Target="/ppt/notesSlides/notesSlide6.xml" Id="Rfca66812ec374ff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afb89da4fd4984" /><Relationship Type="http://schemas.openxmlformats.org/officeDocument/2006/relationships/image" Target="/ppt/media/image5.jpeg" Id="Ra28b8dfee045494c" /><Relationship Type="http://schemas.openxmlformats.org/officeDocument/2006/relationships/notesSlide" Target="/ppt/notesSlides/notesSlide7.xml" Id="R63b1100047504c9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449e9b4f11464f" /><Relationship Type="http://schemas.openxmlformats.org/officeDocument/2006/relationships/image" Target="/ppt/media/image6.jpeg" Id="R96fdc497540344c3" /><Relationship Type="http://schemas.openxmlformats.org/officeDocument/2006/relationships/notesSlide" Target="/ppt/notesSlides/notesSlide8.xml" Id="R93e3c97757b0467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b30cf0020940a6" /><Relationship Type="http://schemas.openxmlformats.org/officeDocument/2006/relationships/notesSlide" Target="/ppt/notesSlides/notesSlide9.xml" Id="R26124dc7e9c9473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b18044e97a430a" /><Relationship Type="http://schemas.openxmlformats.org/officeDocument/2006/relationships/notesSlide" Target="/ppt/notesSlides/notesSlide10.xml" Id="Re8c739fb1da6490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3100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A01186-BA60-4782-9E62-F6B0C686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16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12C56C-ED5C-4C1E-B1E9-EF3512B6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168F"/>
                </a:solidFill>
              </a:defRPr>
            </a:pPr>
            <a:r>
              <a:rPr sz="1200" b="1">
                <a:solidFill>
                  <a:srgbClr val="FF168F"/>
                </a:solidFill>
              </a:rPr>
              <a:t>GOAI 2026 · 无界应用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B2F691-AD47-4F72-8B11-C2BBD41B3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590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狗头军师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737E77-8A0A-4F75-B49F-7D772B7AC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47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E2F1"/>
                </a:solidFill>
              </a:defRPr>
            </a:pPr>
            <a:r>
              <a:rPr sz="2850" b="1">
                <a:solidFill>
                  <a:srgbClr val="FFE2F1"/>
                </a:solidFill>
              </a:rPr>
              <a:t>手机和电脑里的感情军师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41AFE0-AF44-4AAF-B538-E549BADA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6191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3D5E4"/>
                </a:solidFill>
              </a:defRPr>
            </a:pPr>
            <a:r>
              <a:rPr sz="2100" b="0">
                <a:solidFill>
                  <a:srgbClr val="F3D5E4"/>
                </a:solidFill>
              </a:rPr>
              <a:t>帮用户理清关系，</a:t>
            </a:r>
          </a:p>
          <a:p xmlns:a="http://schemas.openxmlformats.org/drawingml/2006/main">
            <a:pPr algn="l">
              <a:defRPr sz="2100" b="0">
                <a:solidFill>
                  <a:srgbClr val="F3D5E4"/>
                </a:solidFill>
              </a:defRPr>
            </a:pPr>
            <a:r>
              <a:rPr sz="2100" b="0">
                <a:solidFill>
                  <a:srgbClr val="F3D5E4"/>
                </a:solidFill>
              </a:rPr>
              <a:t>想好下一步。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02A424-9692-4D22-B203-22E3AD2A5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066800"/>
            <a:ext cx="2952750" cy="390525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FFF7FB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187a3fc5b342a4"/>
          <a:stretch xmlns:a="http://schemas.openxmlformats.org/drawingml/2006/main"/>
        </p:blipFill>
        <p:spPr>
          <a:xfrm xmlns:a="http://schemas.openxmlformats.org/drawingml/2006/main">
            <a:off x="8334375" y="1571625"/>
            <a:ext cx="2190750" cy="2190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8FFCAE-9184-4CB5-B9B2-E0506CA1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0005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10019"/>
                </a:solidFill>
              </a:defRPr>
            </a:pPr>
            <a:r>
              <a:rPr sz="1650" b="1">
                <a:solidFill>
                  <a:srgbClr val="310019"/>
                </a:solidFill>
              </a:rPr>
              <a:t>DeepSeek Harness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EBE6A0-A414-4DED-A38C-3FCFE85D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100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765C6A"/>
                </a:solidFill>
              </a:defRPr>
            </a:pPr>
            <a:r>
              <a:rPr sz="1200" b="0">
                <a:solidFill>
                  <a:srgbClr val="765C6A"/>
                </a:solidFill>
              </a:rPr>
              <a:t>真的接入 DeepSeek · 代码公开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DFC756-A772-44FE-9FB0-0E31A34F8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CFA4B9"/>
                </a:solidFill>
              </a:defRPr>
            </a:pPr>
            <a:r>
              <a:rPr sz="900" b="0">
                <a:solidFill>
                  <a:srgbClr val="CFA4B9"/>
                </a:solidFill>
              </a:rPr>
              <a:t>GOAI 2026 · Boundless Agents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6951C6-7C88-4EF3-9C1F-2BD1AF8DF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FA4B9"/>
                </a:solidFill>
              </a:defRPr>
            </a:pPr>
            <a:r>
              <a:rPr sz="900" b="1">
                <a:solidFill>
                  <a:srgbClr val="CFA4B9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7420158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80404C-D36C-4A43-ADBA-6AA09F56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168F"/>
                </a:solidFill>
              </a:defRPr>
            </a:pPr>
            <a:r>
              <a:rPr sz="1050" b="1">
                <a:solidFill>
                  <a:srgbClr val="FF168F"/>
                </a:solidFill>
              </a:rPr>
              <a:t>01 · 为什么需要它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24DF67-95A6-492B-AC40-EF039CAC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5121D"/>
                </a:solidFill>
              </a:defRPr>
            </a:pPr>
            <a:r>
              <a:rPr sz="2850" b="1">
                <a:solidFill>
                  <a:srgbClr val="25121D"/>
                </a:solidFill>
              </a:rPr>
              <a:t>感情问题最难的，不是“不会说”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F989B5-8935-4CDB-947F-A58CD6574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65C6A"/>
                </a:solidFill>
              </a:defRPr>
            </a:pPr>
            <a:r>
              <a:rPr sz="1500" b="0">
                <a:solidFill>
                  <a:srgbClr val="765C6A"/>
                </a:solidFill>
              </a:rPr>
              <a:t>而是心里很乱，分不清发生了什么，也不知道下一步该怎么做。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A5A427-4822-4B0A-A220-A06DCD7A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168F"/>
                </a:solidFill>
              </a:defRPr>
            </a:pPr>
            <a:r>
              <a:rPr sz="3000" b="1">
                <a:solidFill>
                  <a:srgbClr val="FF168F"/>
                </a:solidFill>
              </a:rPr>
              <a:t>高情绪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C9ABA9-1B3E-43CA-BF58-5CE0EC88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400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5121D"/>
                </a:solidFill>
              </a:defRPr>
            </a:pPr>
            <a:r>
              <a:rPr sz="1500" b="0">
                <a:solidFill>
                  <a:srgbClr val="25121D"/>
                </a:solidFill>
              </a:rPr>
              <a:t>容易把一次沉默、一个表情，解释成全部关系结论。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37EF4B-3193-4CB2-81FE-7EBF1E5A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310019"/>
                </a:solidFill>
              </a:defRPr>
            </a:pPr>
            <a:r>
              <a:rPr sz="3000" b="1">
                <a:solidFill>
                  <a:srgbClr val="310019"/>
                </a:solidFill>
              </a:rPr>
              <a:t>看不清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36D0A5-2673-497A-A0A5-4B4FC22CB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4095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5121D"/>
                </a:solidFill>
              </a:defRPr>
            </a:pPr>
            <a:r>
              <a:rPr sz="1500" b="0">
                <a:solidFill>
                  <a:srgbClr val="25121D"/>
                </a:solidFill>
              </a:rPr>
              <a:t>建议听起来有道理，却不知道该信什么、等多久、什么时候该停。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7B3D8E-FB01-4B05-AEF2-5685A91B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209800"/>
            <a:ext cx="6134100" cy="35052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BFD6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c66c442004fdd"/>
          <a:srcRect xmlns:a="http://schemas.openxmlformats.org/drawingml/2006/main" l="70" t="0" r="7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91150" y="2266950"/>
            <a:ext cx="6019800" cy="3390900"/>
          </a:xfrm>
          <a:prstGeom xmlns:a="http://schemas.openxmlformats.org/drawingml/2006/main" prst="roundRect">
            <a:avLst>
              <a:gd name="adj" fmla="val 4494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303EE7-02D6-4119-9A0A-0ED3C36F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65C6A"/>
                </a:solidFill>
              </a:defRPr>
            </a:pPr>
            <a:r>
              <a:rPr sz="900" b="0">
                <a:solidFill>
                  <a:srgbClr val="765C6A"/>
                </a:solidFill>
              </a:rPr>
              <a:t>GOAI 2026 · Boundless Agents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DB2E10-4187-486E-BE5E-B077E2A2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65C6A"/>
                </a:solidFill>
              </a:defRPr>
            </a:pPr>
            <a:r>
              <a:rPr sz="900" b="1">
                <a:solidFill>
                  <a:srgbClr val="765C6A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682243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700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E2C056C-70BA-486D-A070-92D93ABED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168F"/>
                </a:solidFill>
              </a:defRPr>
            </a:pPr>
            <a:r>
              <a:rPr sz="1050" b="1">
                <a:solidFill>
                  <a:srgbClr val="FF168F"/>
                </a:solidFill>
              </a:rPr>
              <a:t>02 · 它怎么帮你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63A585-5C05-49CE-A96A-0D29F4EC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从“我好乱”走到“下一步怎么做”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236008-7F0B-478D-B9E1-1798E440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9CAD9"/>
                </a:solidFill>
              </a:defRPr>
            </a:pPr>
            <a:r>
              <a:rPr sz="1500" b="0">
                <a:solidFill>
                  <a:srgbClr val="E9CAD9"/>
                </a:solidFill>
              </a:rPr>
              <a:t>每次都说清楚：现在知道什么、接下来做什么、多久后看结果、什么时候该停。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0EE75F-623C-435B-B063-09FA17B7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83945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16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361A8C-B523-45C2-9A84-395FED69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676400" cy="2781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D1328"/>
          </a:solidFill>
          <a:ln xmlns:a="http://schemas.openxmlformats.org/drawingml/2006/main" w="9525">
            <a:solidFill>
              <a:srgbClr val="71405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2C7399-F0FF-42BE-99BF-A9F0C4F8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168F"/>
                </a:solidFill>
              </a:defRPr>
            </a:pPr>
            <a:r>
              <a:rPr sz="1350" b="1">
                <a:solidFill>
                  <a:srgbClr val="FF168F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7B15F1-49B1-4B7A-BCB3-74439DE78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先听你说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3F6E75-B120-4CC2-9CF3-F9EA4DCD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14775"/>
            <a:ext cx="133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FBFD0"/>
                </a:solidFill>
              </a:defRPr>
            </a:pPr>
            <a:r>
              <a:rPr sz="1275" b="0">
                <a:solidFill>
                  <a:srgbClr val="DFBFD0"/>
                </a:solidFill>
              </a:rPr>
              <a:t>听懂你最难受、最担心什么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857082-D9BD-4D77-AB86-FC2684EB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447925"/>
            <a:ext cx="1676400" cy="2781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D1328"/>
          </a:solidFill>
          <a:ln xmlns:a="http://schemas.openxmlformats.org/drawingml/2006/main" w="9525">
            <a:solidFill>
              <a:srgbClr val="71405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C68DB1-8CFC-4DAF-8496-04A03A562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647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168F"/>
                </a:solidFill>
              </a:defRPr>
            </a:pPr>
            <a:r>
              <a:rPr sz="1350" b="1">
                <a:solidFill>
                  <a:srgbClr val="FF168F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D93BC8-1F7F-416E-BD29-0C4F674B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8612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分清楚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8B64E3-4DE4-4416-83A9-B0F12B8E9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914775"/>
            <a:ext cx="133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FBFD0"/>
                </a:solidFill>
              </a:defRPr>
            </a:pPr>
            <a:r>
              <a:rPr sz="1275" b="0">
                <a:solidFill>
                  <a:srgbClr val="DFBFD0"/>
                </a:solidFill>
              </a:rPr>
              <a:t>哪些是真的，哪些是猜的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5F23C1-B8E4-4658-BEBA-5E73C7D4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47925"/>
            <a:ext cx="1676400" cy="2781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D1328"/>
          </a:solidFill>
          <a:ln xmlns:a="http://schemas.openxmlformats.org/drawingml/2006/main" w="9525">
            <a:solidFill>
              <a:srgbClr val="71405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A060F8-D1BC-4AF3-B185-ABE68323D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647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168F"/>
                </a:solidFill>
              </a:defRPr>
            </a:pPr>
            <a:r>
              <a:rPr sz="1350" b="1">
                <a:solidFill>
                  <a:srgbClr val="FF168F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1C292E-C4A7-436A-A943-E09237E6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8612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选下一步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76F173-E26C-4406-A0F6-096E1421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914775"/>
            <a:ext cx="133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FBFD0"/>
                </a:solidFill>
              </a:defRPr>
            </a:pPr>
            <a:r>
              <a:rPr sz="1275" b="0">
                <a:solidFill>
                  <a:srgbClr val="DFBFD0"/>
                </a:solidFill>
              </a:rPr>
              <a:t>继续 / 问清 / 修复 / 离开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04055-86D8-49D9-9027-A0535869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447925"/>
            <a:ext cx="1676400" cy="2781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D1328"/>
          </a:solidFill>
          <a:ln xmlns:a="http://schemas.openxmlformats.org/drawingml/2006/main" w="9525">
            <a:solidFill>
              <a:srgbClr val="71405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94C9C3-03CB-4552-8233-88F8914A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47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168F"/>
                </a:solidFill>
              </a:defRPr>
            </a:pPr>
            <a:r>
              <a:rPr sz="1350" b="1">
                <a:solidFill>
                  <a:srgbClr val="FF168F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8CE522-8DE7-4924-93F6-F4D487E66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8612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给你一句话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F216F2-F70C-4388-A85B-B139DDC9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14775"/>
            <a:ext cx="133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FBFD0"/>
                </a:solidFill>
              </a:defRPr>
            </a:pPr>
            <a:r>
              <a:rPr sz="1275" b="0">
                <a:solidFill>
                  <a:srgbClr val="DFBFD0"/>
                </a:solidFill>
              </a:rPr>
              <a:t>可以直接复制，也可以自己改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ED31D5-2352-4EDC-90B6-4F5ECF3C8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47925"/>
            <a:ext cx="1676400" cy="2781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D1328"/>
          </a:solidFill>
          <a:ln xmlns:a="http://schemas.openxmlformats.org/drawingml/2006/main" w="9525">
            <a:solidFill>
              <a:srgbClr val="71405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D95551-923D-4F02-BDA2-A12D4D99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647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168F"/>
                </a:solidFill>
              </a:defRPr>
            </a:pPr>
            <a:r>
              <a:rPr sz="1350" b="1">
                <a:solidFill>
                  <a:srgbClr val="FF168F"/>
                </a:solidFill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3F9F86-D451-4141-83EC-DC77554D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8612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约好看多久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BAAB91-635A-4849-9C58-EC41D106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14775"/>
            <a:ext cx="133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FBFD0"/>
                </a:solidFill>
              </a:defRPr>
            </a:pPr>
            <a:r>
              <a:rPr sz="1275" b="0">
                <a:solidFill>
                  <a:srgbClr val="DFBFD0"/>
                </a:solidFill>
              </a:rPr>
              <a:t>等多久、看什么、何时停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4FB554-6570-4F46-BD57-FFF9F8E48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47925"/>
            <a:ext cx="1676400" cy="2781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168F"/>
          </a:solidFill>
          <a:ln xmlns:a="http://schemas.openxmlformats.org/drawingml/2006/main" w="9525">
            <a:solidFill>
              <a:srgbClr val="FF168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0CB7E7-2C9C-4510-9A9C-A6683396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647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A15355-14EF-4919-AC97-0848BFD9E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28612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你来决定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A95472-95A9-4275-90B0-5167F6EC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914775"/>
            <a:ext cx="133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系统不替你发消息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AC8DA2-E052-433A-812D-64710A306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CFA4B9"/>
                </a:solidFill>
              </a:defRPr>
            </a:pPr>
            <a:r>
              <a:rPr sz="900" b="0">
                <a:solidFill>
                  <a:srgbClr val="CFA4B9"/>
                </a:solidFill>
              </a:rPr>
              <a:t>GOAI 2026 · Boundless Agents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C38006-0158-4D69-8315-529804AA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FA4B9"/>
                </a:solidFill>
              </a:defRPr>
            </a:pPr>
            <a:r>
              <a:rPr sz="900" b="1">
                <a:solidFill>
                  <a:srgbClr val="CFA4B9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800844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3F640D-430B-49C8-BF0F-4994EB11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168F"/>
                </a:solidFill>
              </a:defRPr>
            </a:pPr>
            <a:r>
              <a:rPr sz="1050" b="1">
                <a:solidFill>
                  <a:srgbClr val="FF168F"/>
                </a:solidFill>
              </a:rPr>
              <a:t>03 · 用起来什么感觉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69A898-3251-4845-9FB2-BC8539E6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5121D"/>
                </a:solidFill>
              </a:defRPr>
            </a:pPr>
            <a:r>
              <a:rPr sz="2850" b="1">
                <a:solidFill>
                  <a:srgbClr val="25121D"/>
                </a:solidFill>
              </a:rPr>
              <a:t>聊天要像聊天，不像做题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97447F-173A-4BE7-AA58-DA4A5DFA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65C6A"/>
                </a:solidFill>
              </a:defRPr>
            </a:pPr>
            <a:r>
              <a:rPr sz="1500" b="0">
                <a:solidFill>
                  <a:srgbClr val="765C6A"/>
                </a:solidFill>
              </a:rPr>
              <a:t>复杂的判断放在背后，用户看到的是自然回应和清楚的下一步。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32BB1A-F1F3-4015-9D17-1738731EE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8515350" cy="41148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BFD6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516817a31949ca"/>
          <a:srcRect xmlns:a="http://schemas.openxmlformats.org/drawingml/2006/main" l="0" t="7672" r="0" b="76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2133600"/>
            <a:ext cx="8401050" cy="4000500"/>
          </a:xfrm>
          <a:prstGeom xmlns:a="http://schemas.openxmlformats.org/drawingml/2006/main" prst="roundRect">
            <a:avLst>
              <a:gd name="adj" fmla="val 3810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900332-5557-46F7-AADD-9767E150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812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168F"/>
                </a:solidFill>
              </a:defRPr>
            </a:pPr>
            <a:r>
              <a:rPr sz="1650" b="1">
                <a:solidFill>
                  <a:srgbClr val="FF168F"/>
                </a:solidFill>
              </a:rPr>
              <a:t>先听你说完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0753B3-0D11-401B-ADA6-D85B7B56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800350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5121D"/>
                </a:solidFill>
              </a:defRPr>
            </a:pPr>
            <a:r>
              <a:rPr sz="1275" b="0">
                <a:solidFill>
                  <a:srgbClr val="25121D"/>
                </a:solidFill>
              </a:rPr>
              <a:t>不急着给关系下结论。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DE31CD-63BD-49E2-A295-0824A2230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6576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10019"/>
                </a:solidFill>
              </a:defRPr>
            </a:pPr>
            <a:r>
              <a:rPr sz="1650" b="1">
                <a:solidFill>
                  <a:srgbClr val="310019"/>
                </a:solidFill>
              </a:rPr>
              <a:t>给你能直接发的话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23B1A7-C2FE-4A3B-9BA8-858180B4A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076700"/>
            <a:ext cx="2000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5121D"/>
                </a:solidFill>
              </a:defRPr>
            </a:pPr>
            <a:r>
              <a:rPr sz="1275" b="0">
                <a:solidFill>
                  <a:srgbClr val="25121D"/>
                </a:solidFill>
              </a:rPr>
              <a:t>话术、48 小时观察窗口、停止条件都能直接执行。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2AE0FF-9F07-4D1A-9FB0-4D549662F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2959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9A86B"/>
                </a:solidFill>
              </a:defRPr>
            </a:pPr>
            <a:r>
              <a:rPr sz="1650" b="1">
                <a:solidFill>
                  <a:srgbClr val="19A86B"/>
                </a:solidFill>
              </a:rPr>
              <a:t>最后你自己决定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8F68C2-2E42-400B-911B-495C0A98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65C6A"/>
                </a:solidFill>
              </a:defRPr>
            </a:pPr>
            <a:r>
              <a:rPr sz="900" b="0">
                <a:solidFill>
                  <a:srgbClr val="765C6A"/>
                </a:solidFill>
              </a:rPr>
              <a:t>GOAI 2026 · Boundless Agents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FE20EC-A4D3-472F-8CD1-B43B1A81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65C6A"/>
                </a:solidFill>
              </a:defRPr>
            </a:pPr>
            <a:r>
              <a:rPr sz="900" b="1">
                <a:solidFill>
                  <a:srgbClr val="765C6A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470454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3100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66729E-7E13-41E2-85E3-6172BC26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168F"/>
                </a:solidFill>
              </a:defRPr>
            </a:pPr>
            <a:r>
              <a:rPr sz="1050" b="1">
                <a:solidFill>
                  <a:srgbClr val="FF168F"/>
                </a:solidFill>
              </a:rPr>
              <a:t>04 · 关系进展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A73C3C-69C4-41F3-B70E-F7B09C961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K 线只记录发生过什么，不算“成功率”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2C19AF-BD1F-417F-BF3B-D7ADF845E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9CAD9"/>
                </a:solidFill>
              </a:defRPr>
            </a:pPr>
            <a:r>
              <a:rPr sz="1500" b="0">
                <a:solidFill>
                  <a:srgbClr val="E9CAD9"/>
                </a:solidFill>
              </a:rPr>
              <a:t>红色表示有进展，绿色表示退缩或冲突，灰色表示现在还看不清。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C70F1C-67EA-4FA4-AC10-209873D8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11087100" cy="4057650"/>
          </a:xfrm>
          <a:prstGeom xmlns:a="http://schemas.openxmlformats.org/drawingml/2006/main" prst="roundRect">
            <a:avLst>
              <a:gd name="adj" fmla="val 3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BFD6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e8be88e798452a"/>
          <a:srcRect xmlns:a="http://schemas.openxmlformats.org/drawingml/2006/main" l="0" t="18056" r="0" b="180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2152650"/>
            <a:ext cx="10972800" cy="3943350"/>
          </a:xfrm>
          <a:prstGeom xmlns:a="http://schemas.openxmlformats.org/drawingml/2006/main" prst="roundRect">
            <a:avLst>
              <a:gd name="adj" fmla="val 3865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DEF58A-4CCD-4BF9-9E57-8D8AC4947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95950"/>
            <a:ext cx="1524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16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68EFC8-C856-4EC1-B1E0-0FFE0DFA9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4357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16 条公开记录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A3744F-A879-4AB9-AB40-E87AA3575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56959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00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CE482F-3A0D-400F-BE5F-D587BD9E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5743575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像股票 K 线一样看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0FB47D-6BBC-423A-8324-2CDE46CD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695950"/>
            <a:ext cx="1790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00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02F93C-7A1E-4ABF-AECD-26BBFE61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743575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鼠标放上去看原因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3B4798-A9D1-42FF-A446-0793C9002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CFA4B9"/>
                </a:solidFill>
              </a:defRPr>
            </a:pPr>
            <a:r>
              <a:rPr sz="900" b="0">
                <a:solidFill>
                  <a:srgbClr val="CFA4B9"/>
                </a:solidFill>
              </a:rPr>
              <a:t>GOAI 2026 · Boundless Agents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E5F168-BC0F-4970-B4AE-D9DBCCF9B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FA4B9"/>
                </a:solidFill>
              </a:defRPr>
            </a:pPr>
            <a:r>
              <a:rPr sz="900" b="1">
                <a:solidFill>
                  <a:srgbClr val="CFA4B9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429579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FE63C8-92A4-4DF6-816D-6EBD93EC2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168F"/>
                </a:solidFill>
              </a:defRPr>
            </a:pPr>
            <a:r>
              <a:rPr sz="1050" b="1">
                <a:solidFill>
                  <a:srgbClr val="FF168F"/>
                </a:solidFill>
              </a:rPr>
              <a:t>05 · 它不是套壳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A969CD-642A-4E60-9340-EF691BA7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5121D"/>
                </a:solidFill>
              </a:defRPr>
            </a:pPr>
            <a:r>
              <a:rPr sz="2850" b="1">
                <a:solidFill>
                  <a:srgbClr val="25121D"/>
                </a:solidFill>
              </a:rPr>
              <a:t>不是做了个像 DeepSeek 的页面，而是真的接进去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26A2CA-EB6D-422A-B19D-7E2EFD48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65C6A"/>
                </a:solidFill>
              </a:defRPr>
            </a:pPr>
            <a:r>
              <a:rPr sz="1500" b="0">
                <a:solidFill>
                  <a:srgbClr val="765C6A"/>
                </a:solidFill>
              </a:rPr>
              <a:t>DeepSeek Harness 负责对话、模型、工具和页面；狗头军师负责感情问题。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0B23AC-0B1F-4ACB-A0D4-5D108288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6762750" cy="8382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310019"/>
          </a:solidFill>
          <a:ln xmlns:a="http://schemas.openxmlformats.org/drawingml/2006/main" w="9525">
            <a:solidFill>
              <a:srgbClr val="31001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C442A6-89C9-4C5A-AD3F-C55C682BA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DeepSeek Harness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197E3B-E0AD-4B37-86E2-AE2D9D6A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09875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DCE8"/>
                </a:solidFill>
              </a:defRPr>
            </a:pPr>
            <a:r>
              <a:rPr sz="1200" b="0">
                <a:solidFill>
                  <a:srgbClr val="F4DCE8"/>
                </a:solidFill>
              </a:rPr>
              <a:t>负责对话、模型、工具和整个工作区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A4BFD-8158-4BC9-B6B7-D2B13CC25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6762750" cy="8382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168F"/>
          </a:solidFill>
          <a:ln xmlns:a="http://schemas.openxmlformats.org/drawingml/2006/main" w="9525">
            <a:solidFill>
              <a:srgbClr val="FF168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643972-3BCC-44B4-B740-A2A55D584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814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这次比赛新增的部分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C73E36-AA15-4601-88EC-EA27D233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4775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DCE8"/>
                </a:solidFill>
              </a:defRPr>
            </a:pPr>
            <a:r>
              <a:rPr sz="1200" b="0">
                <a:solidFill>
                  <a:srgbClr val="F4DCE8"/>
                </a:solidFill>
              </a:rPr>
              <a:t>把关系判断、证据图和记忆功能接进来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01F4C0-3E94-4E81-B588-3849C85FA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52950"/>
            <a:ext cx="6762750" cy="8382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7FB"/>
          </a:solidFill>
          <a:ln xmlns:a="http://schemas.openxmlformats.org/drawingml/2006/main" w="9525">
            <a:solidFill>
              <a:srgbClr val="EDBFD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20353F-61F1-4958-A09F-6D3AD9B19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121D"/>
                </a:solidFill>
              </a:defRPr>
            </a:pPr>
            <a:r>
              <a:rPr sz="1650" b="1">
                <a:solidFill>
                  <a:srgbClr val="25121D"/>
                </a:solidFill>
              </a:rPr>
              <a:t>原来的狗头军师 Skill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FD37DF-865A-498C-9B99-C685E874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19675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65C6A"/>
                </a:solidFill>
              </a:defRPr>
            </a:pPr>
            <a:r>
              <a:rPr sz="1200" b="0">
                <a:solidFill>
                  <a:srgbClr val="765C6A"/>
                </a:solidFill>
              </a:rPr>
              <a:t>原文件不动；遇到问题时，只查 1–3 份需要的资料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9950A0-AE0B-40B0-ADB7-73C326E5B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05050"/>
            <a:ext cx="3352800" cy="3257550"/>
          </a:xfrm>
          <a:prstGeom xmlns:a="http://schemas.openxmlformats.org/drawingml/2006/main" prst="roundRect">
            <a:avLst>
              <a:gd name="adj" fmla="val 46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BFD6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b3e397797e444a"/>
          <a:srcRect xmlns:a="http://schemas.openxmlformats.org/drawingml/2006/main" l="21023" t="0" r="2102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58150" y="2362200"/>
            <a:ext cx="3238500" cy="3143250"/>
          </a:xfrm>
          <a:prstGeom xmlns:a="http://schemas.openxmlformats.org/drawingml/2006/main" prst="roundRect">
            <a:avLst>
              <a:gd name="adj" fmla="val 4848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CA6F1D-18C7-477B-9173-531B9FC8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743575"/>
            <a:ext cx="3543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10019"/>
                </a:solidFill>
              </a:defRPr>
            </a:pPr>
            <a:r>
              <a:rPr sz="1275" b="1">
                <a:solidFill>
                  <a:srgbClr val="310019"/>
                </a:solidFill>
              </a:rPr>
              <a:t>API Key 仍放在 DeepSeek 自己的设置里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08BEEB-541F-4E21-9E08-3C389839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65C6A"/>
                </a:solidFill>
              </a:defRPr>
            </a:pPr>
            <a:r>
              <a:rPr sz="900" b="0">
                <a:solidFill>
                  <a:srgbClr val="765C6A"/>
                </a:solidFill>
              </a:rPr>
              <a:t>GOAI 2026 · Boundless Agents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29BAC4-6B11-4282-9464-5A64ED4F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65C6A"/>
                </a:solidFill>
              </a:defRPr>
            </a:pPr>
            <a:r>
              <a:rPr sz="900" b="1">
                <a:solidFill>
                  <a:srgbClr val="765C6A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1075135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4FA0DF-DFA8-4BAC-9F63-40E15F50B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168F"/>
                </a:solidFill>
              </a:defRPr>
            </a:pPr>
            <a:r>
              <a:rPr sz="1050" b="1">
                <a:solidFill>
                  <a:srgbClr val="FF168F"/>
                </a:solidFill>
              </a:rPr>
              <a:t>06 · 隐私和安全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85581B-3A69-4DAE-80FF-651DD8BE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5121D"/>
                </a:solidFill>
              </a:defRPr>
            </a:pPr>
            <a:r>
              <a:rPr sz="2850" b="1">
                <a:solidFill>
                  <a:srgbClr val="25121D"/>
                </a:solidFill>
              </a:rPr>
              <a:t>这类问题很私密，所以先把边界说清楚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CD666C-8389-4E5A-B541-FE190FE7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65C6A"/>
                </a:solidFill>
              </a:defRPr>
            </a:pPr>
            <a:r>
              <a:rPr sz="1500" b="0">
                <a:solidFill>
                  <a:srgbClr val="765C6A"/>
                </a:solidFill>
              </a:rPr>
              <a:t>不认错人、不串资料、不偷看，也不替用户发消息。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A77ECB-B68A-45E2-A086-17F255DA3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57400"/>
            <a:ext cx="2971800" cy="42291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BFD6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8b8dfee045494c"/>
          <a:stretch xmlns:a="http://schemas.openxmlformats.org/drawingml/2006/main"/>
        </p:blipFill>
        <p:spPr>
          <a:xfrm xmlns:a="http://schemas.openxmlformats.org/drawingml/2006/main">
            <a:off x="1201956" y="2114550"/>
            <a:ext cx="1901389" cy="4114800"/>
          </a:xfrm>
          <a:prstGeom xmlns:a="http://schemas.openxmlformats.org/drawingml/2006/main" prst="roundRect">
            <a:avLst>
              <a:gd name="adj" fmla="val 8000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24FBAA-4A8C-42C5-961E-F3DDEC7A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1907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168F"/>
                </a:solidFill>
              </a:defRPr>
            </a:pPr>
            <a:r>
              <a:rPr sz="1725" b="1">
                <a:solidFill>
                  <a:srgbClr val="FF168F"/>
                </a:solidFill>
              </a:rPr>
              <a:t>先确认身份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B7031A-E169-4B90-8685-DF4A9C1B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190750"/>
            <a:ext cx="5429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121D"/>
                </a:solidFill>
              </a:defRPr>
            </a:pPr>
            <a:r>
              <a:rPr sz="1350" b="0">
                <a:solidFill>
                  <a:srgbClr val="25121D"/>
                </a:solidFill>
              </a:rPr>
              <a:t>优先看发送人账号；信息不够就请用户确认，前后对不上马上停。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1AF140-905A-45FB-8031-3DCC6350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933700"/>
            <a:ext cx="68580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BF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32B065-4F7F-422C-B427-5DEB26D7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813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10019"/>
                </a:solidFill>
              </a:defRPr>
            </a:pPr>
            <a:r>
              <a:rPr sz="1725" b="1">
                <a:solidFill>
                  <a:srgbClr val="310019"/>
                </a:solidFill>
              </a:rPr>
              <a:t>资料不混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B28A8B-4B56-4DCE-A711-65773C0AE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181350"/>
            <a:ext cx="5429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121D"/>
                </a:solidFill>
              </a:defRPr>
            </a:pPr>
            <a:r>
              <a:rPr sz="1350" b="0">
                <a:solidFill>
                  <a:srgbClr val="25121D"/>
                </a:solidFill>
              </a:rPr>
              <a:t>最多建 5 个档案，每个人的聊天、记忆和证据都单独放。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6345F1-BD8D-4B70-B53A-1541DCA2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924300"/>
            <a:ext cx="68580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BF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362EBB-1738-44EF-8F07-013F3D642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1719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10019"/>
                </a:solidFill>
              </a:defRPr>
            </a:pPr>
            <a:r>
              <a:rPr sz="1725" b="1">
                <a:solidFill>
                  <a:srgbClr val="310019"/>
                </a:solidFill>
              </a:rPr>
              <a:t>不偷看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C89612-0B4E-4EDD-AC5A-527FE3CC6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171950"/>
            <a:ext cx="5429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121D"/>
                </a:solidFill>
              </a:defRPr>
            </a:pPr>
            <a:r>
              <a:rPr sz="1350" b="0">
                <a:solidFill>
                  <a:srgbClr val="25121D"/>
                </a:solidFill>
              </a:rPr>
              <a:t>不破解聊天数据库、不后台监控、不绕过权限、不自动发消息。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B3E803-CB03-40EC-8B93-40F3D934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914900"/>
            <a:ext cx="68580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BF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6A21A6-36F8-47B5-9B06-1B097961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162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10019"/>
                </a:solidFill>
              </a:defRPr>
            </a:pPr>
            <a:r>
              <a:rPr sz="1725" b="1">
                <a:solidFill>
                  <a:srgbClr val="310019"/>
                </a:solidFill>
              </a:rPr>
              <a:t>随时可以停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C616F0-E1AB-490D-AD42-22367A61F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162550"/>
            <a:ext cx="5429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121D"/>
                </a:solidFill>
              </a:defRPr>
            </a:pPr>
            <a:r>
              <a:rPr sz="1350" b="0">
                <a:solidFill>
                  <a:srgbClr val="25121D"/>
                </a:solidFill>
              </a:rPr>
              <a:t>临时问问不留长期记录；记忆可改、可撤回，人也可以归档。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F12B40-73C0-41BB-8357-FD979513A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905500"/>
            <a:ext cx="68580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BF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8ABBC4-D060-471F-AA61-D10B5F98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65C6A"/>
                </a:solidFill>
              </a:defRPr>
            </a:pPr>
            <a:r>
              <a:rPr sz="900" b="0">
                <a:solidFill>
                  <a:srgbClr val="765C6A"/>
                </a:solidFill>
              </a:rPr>
              <a:t>GOAI 2026 · Boundless Agents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1CCFA1-176B-449A-AFB8-502EB835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65C6A"/>
                </a:solidFill>
              </a:defRPr>
            </a:pPr>
            <a:r>
              <a:rPr sz="900" b="1">
                <a:solidFill>
                  <a:srgbClr val="765C6A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358402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700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2868EA-7317-4795-A3F5-63F89AB9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168F"/>
                </a:solidFill>
              </a:defRPr>
            </a:pPr>
            <a:r>
              <a:rPr sz="1050" b="1">
                <a:solidFill>
                  <a:srgbClr val="FF168F"/>
                </a:solidFill>
              </a:rPr>
              <a:t>07 · 现在做到哪了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0C51D1-E1B9-42CB-A0D6-DD218A6E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现在已经能跑，不是只写了一个想法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DF6865-204B-48D0-B7B4-479579445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9CAD9"/>
                </a:solidFill>
              </a:defRPr>
            </a:pPr>
            <a:r>
              <a:rPr sz="1500" b="0">
                <a:solidFill>
                  <a:srgbClr val="E9CAD9"/>
                </a:solidFill>
              </a:rPr>
              <a:t>用公开假数据就能完整演示，不用真实聊天，也不用 API Key。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B95E60-716F-4DA7-8AEC-DA7806A7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228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168F"/>
                </a:solidFill>
              </a:defRPr>
            </a:pPr>
            <a:r>
              <a:rPr sz="3150" b="1">
                <a:solidFill>
                  <a:srgbClr val="FF168F"/>
                </a:solidFill>
              </a:rPr>
              <a:t>10 / 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1403AA-9130-441E-9EAF-4D32A0293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289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B8C9"/>
                </a:solidFill>
              </a:defRPr>
            </a:pPr>
            <a:r>
              <a:rPr sz="1350" b="0">
                <a:solidFill>
                  <a:srgbClr val="D9B8C9"/>
                </a:solidFill>
              </a:rPr>
              <a:t>测试全部通过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AAB882-6A01-45BE-8CD0-0B0C8065F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381250"/>
            <a:ext cx="228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1DA84B-95A2-403D-BF62-7ACCD106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289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B8C9"/>
                </a:solidFill>
              </a:defRPr>
            </a:pPr>
            <a:r>
              <a:rPr sz="1350" b="0">
                <a:solidFill>
                  <a:srgbClr val="D9B8C9"/>
                </a:solidFill>
              </a:rPr>
              <a:t>公开关系记录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D51BE2-8135-4315-A788-BCA7BEECF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19550"/>
            <a:ext cx="228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D720F6-80EB-4E40-BEC2-9DC2A226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B8C9"/>
                </a:solidFill>
              </a:defRPr>
            </a:pPr>
            <a:r>
              <a:rPr sz="1350" b="0">
                <a:solidFill>
                  <a:srgbClr val="D9B8C9"/>
                </a:solidFill>
              </a:rPr>
              <a:t>最多可建档人数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12AE00-8B9F-457B-A426-8CFC5DEB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019550"/>
            <a:ext cx="228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1–3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CCF2CE-4147-4ED3-8B0E-689C1FDCE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672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B8C9"/>
                </a:solidFill>
              </a:defRPr>
            </a:pPr>
            <a:r>
              <a:rPr sz="1350" b="0">
                <a:solidFill>
                  <a:srgbClr val="D9B8C9"/>
                </a:solidFill>
              </a:rPr>
              <a:t>每次只查少量资料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E5A0A8-A689-436F-B450-CF74AD02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76450"/>
            <a:ext cx="3733800" cy="42100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BFD6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fdc497540344c3"/>
          <a:stretch xmlns:a="http://schemas.openxmlformats.org/drawingml/2006/main"/>
        </p:blipFill>
        <p:spPr>
          <a:xfrm xmlns:a="http://schemas.openxmlformats.org/drawingml/2006/main">
            <a:off x="8197707" y="2133600"/>
            <a:ext cx="1892586" cy="4095750"/>
          </a:xfrm>
          <a:prstGeom xmlns:a="http://schemas.openxmlformats.org/drawingml/2006/main" prst="roundRect">
            <a:avLst>
              <a:gd name="adj" fmla="val 6316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6E0C0C-31FA-4816-A4D0-D657C63C7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CFA4B9"/>
                </a:solidFill>
              </a:defRPr>
            </a:pPr>
            <a:r>
              <a:rPr sz="900" b="0">
                <a:solidFill>
                  <a:srgbClr val="CFA4B9"/>
                </a:solidFill>
              </a:rPr>
              <a:t>GOAI 2026 · Boundless Agents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941178-80C8-4978-9A97-8A5D8766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FA4B9"/>
                </a:solidFill>
              </a:defRPr>
            </a:pPr>
            <a:r>
              <a:rPr sz="900" b="1">
                <a:solidFill>
                  <a:srgbClr val="CFA4B9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431068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DFF2C9-73E8-4244-8CEC-9310C733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168F"/>
                </a:solidFill>
              </a:defRPr>
            </a:pPr>
            <a:r>
              <a:rPr sz="1050" b="1">
                <a:solidFill>
                  <a:srgbClr val="FF168F"/>
                </a:solidFill>
              </a:rPr>
              <a:t>08 · 别人也能拿去用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494441-6407-4323-96A2-1D5121F84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5121D"/>
                </a:solidFill>
              </a:defRPr>
            </a:pPr>
            <a:r>
              <a:rPr sz="2850" b="1">
                <a:solidFill>
                  <a:srgbClr val="25121D"/>
                </a:solidFill>
              </a:rPr>
              <a:t>别人不用从头再做，可以直接拿去改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DC64C4-68D1-486A-A71B-4C8F3989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65C6A"/>
                </a:solidFill>
              </a:defRPr>
            </a:pPr>
            <a:r>
              <a:rPr sz="1500" b="0">
                <a:solidFill>
                  <a:srgbClr val="765C6A"/>
                </a:solidFill>
              </a:rPr>
              <a:t>这套做法还能用在其他“心里很乱、又很难判断”的个人问题上。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7BC105-B2D2-463A-B624-3459AF45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479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168F"/>
                </a:solidFill>
              </a:defRPr>
            </a:pPr>
            <a:r>
              <a:rPr sz="1575" b="1">
                <a:solidFill>
                  <a:srgbClr val="FF168F"/>
                </a:solidFill>
              </a:rPr>
              <a:t>接入 DeepSeek 的方法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80AFE7-8565-412F-B3DE-BB68667E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24790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121D"/>
                </a:solidFill>
              </a:defRPr>
            </a:pPr>
            <a:r>
              <a:rPr sz="1350" b="0">
                <a:solidFill>
                  <a:srgbClr val="25121D"/>
                </a:solidFill>
              </a:rPr>
              <a:t>让狗头军师真正运行在 DeepSeek 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AB2E00-CF9E-4B88-9F84-1D4343293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1011555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BF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050A40-1349-486C-9B60-742A856DB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10019"/>
                </a:solidFill>
              </a:defRPr>
            </a:pPr>
            <a:r>
              <a:rPr sz="1575" b="1">
                <a:solidFill>
                  <a:srgbClr val="310019"/>
                </a:solidFill>
              </a:rPr>
              <a:t>按问题查资料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D0C658-EC29-44D3-B28C-428C7F5E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9908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121D"/>
                </a:solidFill>
              </a:defRPr>
            </a:pPr>
            <a:r>
              <a:rPr sz="1350" b="0">
                <a:solidFill>
                  <a:srgbClr val="25121D"/>
                </a:solidFill>
              </a:rPr>
              <a:t>每次只找当前问题需要的 1–3 份内容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600B4B-8575-445B-808A-ED8AF2D0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05200"/>
            <a:ext cx="1011555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BF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04BDBB-9A54-4F31-910F-604356EF0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10019"/>
                </a:solidFill>
              </a:defRPr>
            </a:pPr>
            <a:r>
              <a:rPr sz="1575" b="1">
                <a:solidFill>
                  <a:srgbClr val="310019"/>
                </a:solidFill>
              </a:rPr>
              <a:t>确认聊天双方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C5EE38-B127-4BB9-8242-A98ED3197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73380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121D"/>
                </a:solidFill>
              </a:defRPr>
            </a:pPr>
            <a:r>
              <a:rPr sz="1350" b="0">
                <a:solidFill>
                  <a:srgbClr val="25121D"/>
                </a:solidFill>
              </a:rPr>
              <a:t>先确认谁是谁，对不上就停止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20BD51-F695-480D-8154-969D695C3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48150"/>
            <a:ext cx="1011555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BF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AD0278-570E-49CD-BDF1-7569348C8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767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10019"/>
                </a:solidFill>
              </a:defRPr>
            </a:pPr>
            <a:r>
              <a:rPr sz="1575" b="1">
                <a:solidFill>
                  <a:srgbClr val="310019"/>
                </a:solidFill>
              </a:rPr>
              <a:t>每个人资料分开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CF1033-2965-4353-9FF5-87B3E439A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767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121D"/>
                </a:solidFill>
              </a:defRPr>
            </a:pPr>
            <a:r>
              <a:rPr sz="1350" b="0">
                <a:solidFill>
                  <a:srgbClr val="25121D"/>
                </a:solidFill>
              </a:rPr>
              <a:t>记忆不串档，也能撤回和删除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445407-262C-4025-8CB5-76C0423E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91100"/>
            <a:ext cx="1011555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BF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7DC260-2F74-42F6-808E-1672F9D3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10019"/>
                </a:solidFill>
              </a:defRPr>
            </a:pPr>
            <a:r>
              <a:rPr sz="1575" b="1">
                <a:solidFill>
                  <a:srgbClr val="310019"/>
                </a:solidFill>
              </a:rPr>
              <a:t>公开案例和测试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C1BCD1-EFCD-4DC5-BF52-2622FAD7D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21970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121D"/>
                </a:solidFill>
              </a:defRPr>
            </a:pPr>
            <a:r>
              <a:rPr sz="1350" b="0">
                <a:solidFill>
                  <a:srgbClr val="25121D"/>
                </a:solidFill>
              </a:rPr>
              <a:t>不用真实聊天也能运行和检查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E21B92-D5A3-49B9-BFCC-9E9F4E7E9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34050"/>
            <a:ext cx="1011555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BF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6C5F95-70B6-4951-9DE2-6EAAFEB3C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150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100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F6BCFD-94F9-49F1-8AC2-0BEF8EE4C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62675"/>
            <a:ext cx="224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代码和第三方说明都公开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DABF-6E5B-49AB-B452-3BE2A9C6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6162675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168F"/>
                </a:solidFill>
              </a:defRPr>
            </a:pPr>
            <a:r>
              <a:rPr sz="1275" b="1">
                <a:solidFill>
                  <a:srgbClr val="FF168F"/>
                </a:solidFill>
              </a:rPr>
              <a:t>github.com/powerycy/goutoujunshi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9929CC-2A63-4AD6-A73E-02012814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65C6A"/>
                </a:solidFill>
              </a:defRPr>
            </a:pPr>
            <a:r>
              <a:rPr sz="900" b="0">
                <a:solidFill>
                  <a:srgbClr val="765C6A"/>
                </a:solidFill>
              </a:rPr>
              <a:t>GOAI 2026 · Boundless Agents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C0A0F5-689B-4320-9D63-BD048261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765C6A"/>
                </a:solidFill>
              </a:defRPr>
            </a:pPr>
            <a:r>
              <a:rPr sz="900" b="1">
                <a:solidFill>
                  <a:srgbClr val="765C6A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576502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3100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5EF384-2CA5-495B-AD1E-F0DA2F5B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168F"/>
                </a:solidFill>
              </a:defRPr>
            </a:pPr>
            <a:r>
              <a:rPr sz="1350" b="1">
                <a:solidFill>
                  <a:srgbClr val="FF168F"/>
                </a:solidFill>
              </a:rPr>
              <a:t>狗头军师 · 感情军师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6B24FC-249F-4C32-B998-FB2736929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781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不是替用户猜答案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31886C-182A-4A63-A8C4-C61A590E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8572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E2F1"/>
                </a:solidFill>
              </a:defRPr>
            </a:pPr>
            <a:r>
              <a:rPr sz="3450" b="1">
                <a:solidFill>
                  <a:srgbClr val="FFE2F1"/>
                </a:solidFill>
              </a:rPr>
              <a:t>而是帮用户看清事实，</a:t>
            </a:r>
          </a:p>
          <a:p xmlns:a="http://schemas.openxmlformats.org/drawingml/2006/main">
            <a:pPr algn="l">
              <a:defRPr sz="3450" b="1">
                <a:solidFill>
                  <a:srgbClr val="FFE2F1"/>
                </a:solidFill>
              </a:defRPr>
            </a:pPr>
            <a:r>
              <a:rPr sz="3450" b="1">
                <a:solidFill>
                  <a:srgbClr val="FFE2F1"/>
                </a:solidFill>
              </a:rPr>
              <a:t>想好下一步。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E0C164-674E-4EAC-A20E-EB1F845E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105727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16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311AFA-6453-4BDA-8DCB-F91DB5480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BCADA"/>
                </a:solidFill>
              </a:defRPr>
            </a:pPr>
            <a:r>
              <a:rPr sz="1500" b="0">
                <a:solidFill>
                  <a:srgbClr val="EBCADA"/>
                </a:solidFill>
              </a:rPr>
              <a:t>现在已有：真实 DeepSeek 接入 · 公开案例 · 关系 K 线 · 隐私保护 · 10/10 测试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9B61AE-C39A-4F2C-86BE-EE9DABEB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7210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下一步：找真实用户试用，把对话做得更自然、更有用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FCE5C0-5E8B-45FE-BC96-04D520BD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168F"/>
                </a:solidFill>
              </a:defRPr>
            </a:pPr>
            <a:r>
              <a:rPr sz="1275" b="1">
                <a:solidFill>
                  <a:srgbClr val="FF168F"/>
                </a:solidFill>
              </a:rPr>
              <a:t>github.com/powerycy/goutoujunshi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2CA39A-7D43-41A4-ADDD-E23B3F4E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CFA4B9"/>
                </a:solidFill>
              </a:defRPr>
            </a:pPr>
            <a:r>
              <a:rPr sz="900" b="0">
                <a:solidFill>
                  <a:srgbClr val="CFA4B9"/>
                </a:solidFill>
              </a:rPr>
              <a:t>GOAI 2026 · Boundless Agents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BC485F-B44A-47DF-9EFA-BBD953709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FA4B9"/>
                </a:solidFill>
              </a:defRPr>
            </a:pPr>
            <a:r>
              <a:rPr sz="900" b="1">
                <a:solidFill>
                  <a:srgbClr val="CFA4B9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211178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2026-08-16T07:48:13.2630000Z</dcterms:created>
  <dcterms:modified xsi:type="dcterms:W3CDTF">2026-08-16T07:48:13.2630000Z</dcterms:modified>
</coreProperties>
</file>