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e1a6d625f4f38" /><Relationship Type="http://schemas.openxmlformats.org/officeDocument/2006/relationships/extended-properties" Target="/docProps/app.xml" Id="R156eb6c93178496a" /><Relationship Type="http://schemas.openxmlformats.org/officeDocument/2006/relationships/officeDocument" Target="/ppt/presentation.xml" Id="R1096f493579e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87820b15a4e34"/>
  </p:sldMasterIdLst>
  <p:notesMasterIdLst>
    <p:notesMasterId xmlns:r="http://schemas.openxmlformats.org/officeDocument/2006/relationships" r:id="Rbd7235c44800455e"/>
  </p:notesMasterIdLst>
  <p:sldIdLst>
    <p:sldId xmlns:r="http://schemas.openxmlformats.org/officeDocument/2006/relationships" id="256" r:id="Rbb45c45124eb497a"/>
    <p:sldId xmlns:r="http://schemas.openxmlformats.org/officeDocument/2006/relationships" id="257" r:id="R3e6c212cd1c3415c"/>
    <p:sldId xmlns:r="http://schemas.openxmlformats.org/officeDocument/2006/relationships" id="258" r:id="R122c0614a0bb413f"/>
    <p:sldId xmlns:r="http://schemas.openxmlformats.org/officeDocument/2006/relationships" id="259" r:id="R5d68ca2db3154d55"/>
    <p:sldId xmlns:r="http://schemas.openxmlformats.org/officeDocument/2006/relationships" id="260" r:id="Rccd266ab41ac44e9"/>
    <p:sldId xmlns:r="http://schemas.openxmlformats.org/officeDocument/2006/relationships" id="261" r:id="R8adb0543697b4981"/>
    <p:sldId xmlns:r="http://schemas.openxmlformats.org/officeDocument/2006/relationships" id="262" r:id="R64c6b37fdcd445fc"/>
    <p:sldId xmlns:r="http://schemas.openxmlformats.org/officeDocument/2006/relationships" id="263" r:id="R4eb122e254c74876"/>
    <p:sldId xmlns:r="http://schemas.openxmlformats.org/officeDocument/2006/relationships" id="264" r:id="Ra9bdc62344a34530"/>
    <p:sldId xmlns:r="http://schemas.openxmlformats.org/officeDocument/2006/relationships" id="265" r:id="Rc18cca130e8e48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a8c5cf341540c1" /><Relationship Type="http://schemas.openxmlformats.org/officeDocument/2006/relationships/slideMaster" Target="/ppt/slideMasters/slideMaster1.xml" Id="R6bd87820b15a4e34" /><Relationship Type="http://schemas.openxmlformats.org/officeDocument/2006/relationships/notesMaster" Target="/ppt/notesMasters/notesMaster1.xml" Id="Rbd7235c44800455e" /><Relationship Type="http://schemas.openxmlformats.org/officeDocument/2006/relationships/presProps" Target="/ppt/presProps.xml" Id="Re182378b9828400c" /><Relationship Type="http://schemas.openxmlformats.org/officeDocument/2006/relationships/tableStyles" Target="/ppt/tableStyles.xml" Id="Rf7ed8760a86f4f9f" /><Relationship Type="http://schemas.openxmlformats.org/officeDocument/2006/relationships/slide" Target="/ppt/slides/slide1.xml" Id="Rbb45c45124eb497a" /><Relationship Type="http://schemas.openxmlformats.org/officeDocument/2006/relationships/slide" Target="/ppt/slides/slide2.xml" Id="R3e6c212cd1c3415c" /><Relationship Type="http://schemas.openxmlformats.org/officeDocument/2006/relationships/slide" Target="/ppt/slides/slide3.xml" Id="R122c0614a0bb413f" /><Relationship Type="http://schemas.openxmlformats.org/officeDocument/2006/relationships/slide" Target="/ppt/slides/slide4.xml" Id="R5d68ca2db3154d55" /><Relationship Type="http://schemas.openxmlformats.org/officeDocument/2006/relationships/slide" Target="/ppt/slides/slide5.xml" Id="Rccd266ab41ac44e9" /><Relationship Type="http://schemas.openxmlformats.org/officeDocument/2006/relationships/slide" Target="/ppt/slides/slide6.xml" Id="R8adb0543697b4981" /><Relationship Type="http://schemas.openxmlformats.org/officeDocument/2006/relationships/slide" Target="/ppt/slides/slide7.xml" Id="R64c6b37fdcd445fc" /><Relationship Type="http://schemas.openxmlformats.org/officeDocument/2006/relationships/slide" Target="/ppt/slides/slide8.xml" Id="R4eb122e254c74876" /><Relationship Type="http://schemas.openxmlformats.org/officeDocument/2006/relationships/slide" Target="/ppt/slides/slide9.xml" Id="Ra9bdc62344a34530" /><Relationship Type="http://schemas.openxmlformats.org/officeDocument/2006/relationships/slide" Target="/ppt/slides/slide10.xml" Id="Rc18cca130e8e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677784809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956d461814167" /><Relationship Type="http://schemas.openxmlformats.org/officeDocument/2006/relationships/notesMaster" Target="/ppt/notesMasters/notesMaster1.xml" Id="R1b7a181052444f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f8dadf99e84615" /><Relationship Type="http://schemas.openxmlformats.org/officeDocument/2006/relationships/notesMaster" Target="/ppt/notesMasters/notesMaster1.xml" Id="R50088046441143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ece34e5a764015" /><Relationship Type="http://schemas.openxmlformats.org/officeDocument/2006/relationships/notesMaster" Target="/ppt/notesMasters/notesMaster1.xml" Id="Rde5d51af0145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0a7247145440d" /><Relationship Type="http://schemas.openxmlformats.org/officeDocument/2006/relationships/notesMaster" Target="/ppt/notesMasters/notesMaster1.xml" Id="Ra8f7fe3d52294d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3041afd6d4cd8" /><Relationship Type="http://schemas.openxmlformats.org/officeDocument/2006/relationships/notesMaster" Target="/ppt/notesMasters/notesMaster1.xml" Id="R6953a8e85d42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887c4427b46b2" /><Relationship Type="http://schemas.openxmlformats.org/officeDocument/2006/relationships/notesMaster" Target="/ppt/notesMasters/notesMaster1.xml" Id="Rdb8a4b2b8ab8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37103b327479c" /><Relationship Type="http://schemas.openxmlformats.org/officeDocument/2006/relationships/notesMaster" Target="/ppt/notesMasters/notesMaster1.xml" Id="R17efce2ab02e4c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9a89ab6384495" /><Relationship Type="http://schemas.openxmlformats.org/officeDocument/2006/relationships/notesMaster" Target="/ppt/notesMasters/notesMaster1.xml" Id="R50f96bf305894e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a095792e6b44e3" /><Relationship Type="http://schemas.openxmlformats.org/officeDocument/2006/relationships/notesMaster" Target="/ppt/notesMasters/notesMaster1.xml" Id="R35094197d50246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6639ed4f7d498d" /><Relationship Type="http://schemas.openxmlformats.org/officeDocument/2006/relationships/notesMaster" Target="/ppt/notesMasters/notesMaster1.xml" Id="R28d21be79efc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https://goaihz.com/tracks?track=apps — Boundless Agents 赛道定位与初赛要求</a:t>
            </a:r>
          </a:p>
          <a:p xmlns:a="http://schemas.openxmlformats.org/drawingml/2006/main">
            <a:r>
              <a:t>- Local asset: packages/goutoujunshi-plugin/assets/doghead-logo.png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evidence: artifacts/screenshots/08-temporary-light-desktop.png</a:t>
            </a:r>
          </a:p>
          <a:p xmlns:a="http://schemas.openxmlformats.org/drawingml/2006/main">
            <a:r>
              <a:t>- https://goaihz.com/tracks?track=apps — 赛道要求真实用户流程与任务闭环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packages/goutoujunshi-plugin/src/client.jsx and domain.js</a:t>
            </a:r>
          </a:p>
          <a:p xmlns:a="http://schemas.openxmlformats.org/drawingml/2006/main">
            <a:r>
              <a:t>- https://goaihz.com/tracks?track=apps — 至少一个可演示、可验证的任务闭环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evidence: artifacts/screenshots/09-normal-agent-chat-desktop.png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evidence: artifacts/screenshots/10-kline-desktop.png</a:t>
            </a:r>
          </a:p>
          <a:p xmlns:a="http://schemas.openxmlformats.org/drawingml/2006/main">
            <a:r>
              <a:t>- Local implementation: packages/goutoujunshi-plugin/src/domain.js — evidence-only candle semantics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https://github.com/deepseek-ai/deepseek-harness — 官方 DeepSeek Harness 仓库与 MIT 许可</a:t>
            </a:r>
          </a:p>
          <a:p xmlns:a="http://schemas.openxmlformats.org/drawingml/2006/main">
            <a:r>
              <a:t>- Local version lock: docs/UPSTREAM.md</a:t>
            </a:r>
          </a:p>
          <a:p xmlns:a="http://schemas.openxmlformats.org/drawingml/2006/main">
            <a:r>
              <a:t>- Local product evidence: artifacts/screenshots/11-model-settings.png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safety specification: docs/DATA_AND_SAFETY.md</a:t>
            </a:r>
          </a:p>
          <a:p xmlns:a="http://schemas.openxmlformats.org/drawingml/2006/main">
            <a:r>
              <a:t>- Local product evidence: artifacts/screenshots/13-mobile-chat.png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verification: tests/domain.test.mjs, tests/adapters.test.mjs, scripts/check-readonly.mjs</a:t>
            </a:r>
          </a:p>
          <a:p xmlns:a="http://schemas.openxmlformats.org/drawingml/2006/main">
            <a:r>
              <a:t>- Local product evidence: artifacts/screenshots/14-mobile-kline.png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https://github.com/powerycy/goutoujunshi — 公开仓库</a:t>
            </a:r>
          </a:p>
          <a:p xmlns:a="http://schemas.openxmlformats.org/drawingml/2006/main">
            <a:r>
              <a:t>- Local third-party declaration: THIRD_PARTY_NOTICES.md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https://goaihz.com/tracks?track=apps — Boundless Agents 对可体验、可复制、可落地应用的要求</a:t>
            </a:r>
          </a:p>
          <a:p xmlns:a="http://schemas.openxmlformats.org/drawingml/2006/main">
            <a:r>
              <a:t>- https://github.com/powerycy/goutoujunshi — 项目仓库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c199bac3c42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932b8a0e54c83" /><Relationship Type="http://schemas.openxmlformats.org/officeDocument/2006/relationships/slideLayout" Target="/ppt/slideLayouts/slideLayout1.xml" Id="R6f27845ca3d84c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27845ca3d84c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78015b8540e9" /><Relationship Type="http://schemas.openxmlformats.org/officeDocument/2006/relationships/image" Target="/ppt/media/image.png" Id="R1684d499fc944016" /><Relationship Type="http://schemas.openxmlformats.org/officeDocument/2006/relationships/notesSlide" Target="/ppt/notesSlides/notesSlide1.xml" Id="R91a0f53afb0144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4552bf7474790" /><Relationship Type="http://schemas.openxmlformats.org/officeDocument/2006/relationships/image" Target="/ppt/media/image.jpeg" Id="R01b6ada6b05944d5" /><Relationship Type="http://schemas.openxmlformats.org/officeDocument/2006/relationships/notesSlide" Target="/ppt/notesSlides/notesSlide2.xml" Id="Rc2d59016245648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96ac3acc74772" /><Relationship Type="http://schemas.openxmlformats.org/officeDocument/2006/relationships/notesSlide" Target="/ppt/notesSlides/notesSlide3.xml" Id="Refd9e1743569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d3db95a9345e4" /><Relationship Type="http://schemas.openxmlformats.org/officeDocument/2006/relationships/image" Target="/ppt/media/image2.jpeg" Id="R7afc189240a4431b" /><Relationship Type="http://schemas.openxmlformats.org/officeDocument/2006/relationships/notesSlide" Target="/ppt/notesSlides/notesSlide4.xml" Id="R2aa2d6ffdd16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63ffb9ae4440b" /><Relationship Type="http://schemas.openxmlformats.org/officeDocument/2006/relationships/image" Target="/ppt/media/image3.jpeg" Id="R4087e6b594c2426c" /><Relationship Type="http://schemas.openxmlformats.org/officeDocument/2006/relationships/notesSlide" Target="/ppt/notesSlides/notesSlide5.xml" Id="Re73d1864127640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34eb721944ba" /><Relationship Type="http://schemas.openxmlformats.org/officeDocument/2006/relationships/image" Target="/ppt/media/image4.jpeg" Id="R720bd1ba7bb74aee" /><Relationship Type="http://schemas.openxmlformats.org/officeDocument/2006/relationships/notesSlide" Target="/ppt/notesSlides/notesSlide6.xml" Id="R99c36f6a4222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cd266e3e846db" /><Relationship Type="http://schemas.openxmlformats.org/officeDocument/2006/relationships/image" Target="/ppt/media/image5.jpeg" Id="Rff5d7980a7fb400d" /><Relationship Type="http://schemas.openxmlformats.org/officeDocument/2006/relationships/notesSlide" Target="/ppt/notesSlides/notesSlide7.xml" Id="Reb7f73623a5646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ce5bc774b4ef0" /><Relationship Type="http://schemas.openxmlformats.org/officeDocument/2006/relationships/image" Target="/ppt/media/image6.jpeg" Id="R280eb31933324b45" /><Relationship Type="http://schemas.openxmlformats.org/officeDocument/2006/relationships/notesSlide" Target="/ppt/notesSlides/notesSlide8.xml" Id="Rcb2daa40190a4b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3224646b4fb4" /><Relationship Type="http://schemas.openxmlformats.org/officeDocument/2006/relationships/notesSlide" Target="/ppt/notesSlides/notesSlide9.xml" Id="R5ba8cf99c668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c9e5c022a44c7" /><Relationship Type="http://schemas.openxmlformats.org/officeDocument/2006/relationships/notesSlide" Target="/ppt/notesSlides/notesSlide10.xml" Id="R87b6422ae01143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0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54F42-3304-4242-BDA0-7480EBB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4A39-21CF-42E7-B860-9411AC01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168F"/>
                </a:solidFill>
              </a:defRPr>
            </a:pPr>
            <a:r>
              <a:rPr sz="1200" b="1">
                <a:solidFill>
                  <a:srgbClr val="FF168F"/>
                </a:solidFill>
              </a:rPr>
              <a:t>GOAI 2026 · 无界应用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560C4-048A-471F-9EE0-EB2C35C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狗头军师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A6EA4-F739-4D0A-8AC4-4EAA8A3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E2F1"/>
                </a:solidFill>
              </a:defRPr>
            </a:pPr>
            <a:r>
              <a:rPr sz="2850" b="1">
                <a:solidFill>
                  <a:srgbClr val="FFE2F1"/>
                </a:solidFill>
              </a:rPr>
              <a:t>关系决策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716A7-42A0-498F-BAA4-D35EF04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D5E4"/>
                </a:solidFill>
              </a:defRPr>
            </a:pPr>
            <a:r>
              <a:rPr sz="1800" b="0">
                <a:solidFill>
                  <a:srgbClr val="F3D5E4"/>
                </a:solidFill>
              </a:rPr>
              <a:t>把高情绪、低确定性的关系困惑，</a:t>
            </a:r>
          </a:p>
          <a:p xmlns:a="http://schemas.openxmlformats.org/drawingml/2006/main">
            <a:pPr algn="l">
              <a:defRPr sz="1800" b="0">
                <a:solidFill>
                  <a:srgbClr val="F3D5E4"/>
                </a:solidFill>
              </a:defRPr>
            </a:pPr>
            <a:r>
              <a:rPr sz="1800" b="0">
                <a:solidFill>
                  <a:srgbClr val="F3D5E4"/>
                </a:solidFill>
              </a:rPr>
              <a:t>变成可观察、可停止、由用户确认的行动闭环。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1F52A-73E7-4B8A-A7D6-480DFF2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2952750" cy="39052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4d499fc944016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6B4B1-4ACA-413F-8A5E-E03B448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0019"/>
                </a:solidFill>
              </a:defRPr>
            </a:pPr>
            <a:r>
              <a:rPr sz="1650" b="1">
                <a:solidFill>
                  <a:srgbClr val="310019"/>
                </a:solidFill>
              </a:rPr>
              <a:t>DeepSeek 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EF963-72B9-4C3D-90EE-08F682F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0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65C6A"/>
                </a:solidFill>
              </a:defRPr>
            </a:pPr>
            <a:r>
              <a:rPr sz="1200" b="0">
                <a:solidFill>
                  <a:srgbClr val="765C6A"/>
                </a:solidFill>
              </a:rPr>
              <a:t>真实插件集成 · 开源可复现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AAF34-98FE-4F27-B255-86E4C930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A4B9"/>
                </a:solidFill>
              </a:defRPr>
            </a:pPr>
            <a:r>
              <a:rPr sz="900" b="0">
                <a:solidFill>
                  <a:srgbClr val="CFA4B9"/>
                </a:solidFill>
              </a:rPr>
              <a:t>GOAI 2026 · Boundless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EE6CD-BA93-42B2-8FA1-3B2BE885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FA4B9"/>
                </a:solidFill>
              </a:defRPr>
            </a:pPr>
            <a:r>
              <a:rPr sz="900" b="1">
                <a:solidFill>
                  <a:srgbClr val="CFA4B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38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6A8D9-A995-44F5-85EC-317603C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01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1EC60-9216-408E-93F4-429D2CA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21D"/>
                </a:solidFill>
              </a:defRPr>
            </a:pPr>
            <a:r>
              <a:rPr sz="2850" b="1">
                <a:solidFill>
                  <a:srgbClr val="25121D"/>
                </a:solidFill>
              </a:rPr>
              <a:t>关系建议的问题，不是“不会说”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6748-1790-4B44-BC14-3C0350B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C6A"/>
                </a:solidFill>
              </a:defRPr>
            </a:pPr>
            <a:r>
              <a:rPr sz="1500" b="0">
                <a:solidFill>
                  <a:srgbClr val="765C6A"/>
                </a:solidFill>
              </a:rPr>
              <a:t>而是情绪、证据和行动混在一起，用户无法判断下一步。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19756-7928-4171-9E6E-42AC0F37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168F"/>
                </a:solidFill>
              </a:defRPr>
            </a:pPr>
            <a:r>
              <a:rPr sz="3000" b="1">
                <a:solidFill>
                  <a:srgbClr val="FF168F"/>
                </a:solidFill>
              </a:rPr>
              <a:t>高情绪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E1B8D-5918-479E-8AB9-8A79DB2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121D"/>
                </a:solidFill>
              </a:defRPr>
            </a:pPr>
            <a:r>
              <a:rPr sz="1500" b="0">
                <a:solidFill>
                  <a:srgbClr val="25121D"/>
                </a:solidFill>
              </a:rPr>
              <a:t>容易把一次沉默、一个表情，解释成全部关系结论。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5A9A5-9991-4115-B635-13D335D8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10019"/>
                </a:solidFill>
              </a:defRPr>
            </a:pPr>
            <a:r>
              <a:rPr sz="3000" b="1">
                <a:solidFill>
                  <a:srgbClr val="310019"/>
                </a:solidFill>
              </a:rPr>
              <a:t>低确定性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730E7-14B5-40A3-8CD2-F777CA72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121D"/>
                </a:solidFill>
              </a:defRPr>
            </a:pPr>
            <a:r>
              <a:rPr sz="1500" b="0">
                <a:solidFill>
                  <a:srgbClr val="25121D"/>
                </a:solidFill>
              </a:rPr>
              <a:t>建议看似正确，却没有证据来源、观察窗口和停止条件。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AD1ED-D3B0-44EE-93A6-645153B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61341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6ada6b05944d5"/>
          <a:srcRect xmlns:a="http://schemas.openxmlformats.org/drawingml/2006/main" l="70" t="0" r="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266950"/>
            <a:ext cx="6019800" cy="339090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85B75-42E2-47E1-8C15-64D63E0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C6A"/>
                </a:solidFill>
              </a:defRPr>
            </a:pPr>
            <a:r>
              <a:rPr sz="900" b="0">
                <a:solidFill>
                  <a:srgbClr val="765C6A"/>
                </a:solidFill>
              </a:rPr>
              <a:t>GOAI 2026 · Boundless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5B838-805C-4202-B0B1-309C7339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C6A"/>
                </a:solidFill>
              </a:defRPr>
            </a:pPr>
            <a:r>
              <a:rPr sz="900" b="1">
                <a:solidFill>
                  <a:srgbClr val="765C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1200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0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0373B-BA0E-47D2-9B6C-98D8F5C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02 ·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AAA8-2633-4D9E-8476-A77AB976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把一次咨询变成可验证的决策闭环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9389A-FE16-4526-9622-31E4075B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CAD9"/>
                </a:solidFill>
              </a:defRPr>
            </a:pPr>
            <a:r>
              <a:rPr sz="1500" b="0">
                <a:solidFill>
                  <a:srgbClr val="E9CAD9"/>
                </a:solidFill>
              </a:rPr>
              <a:t>Agent 不替用户猜答案，只帮助用户做出下一步可观察的选择。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91858-C5C4-481F-8DF4-E93C93A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839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CF32-F96D-4E54-9829-4FCE7EAD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D1328"/>
          </a:solidFill>
          <a:ln xmlns:a="http://schemas.openxmlformats.org/drawingml/2006/main" w="9525">
            <a:solidFill>
              <a:srgbClr val="714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EA651-37F5-4217-8F66-BE971EF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BDB08-AC6B-4BD4-86FC-D2267DF6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承接情绪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80714-EB29-4B50-A94B-006FAC8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BFD0"/>
                </a:solidFill>
              </a:defRPr>
            </a:pPr>
            <a:r>
              <a:rPr sz="1275" b="0">
                <a:solidFill>
                  <a:srgbClr val="DFBFD0"/>
                </a:solidFill>
              </a:rPr>
              <a:t>先听懂用户在怕什么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25FAE-B700-4AAF-B92E-8CD0AC7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D1328"/>
          </a:solidFill>
          <a:ln xmlns:a="http://schemas.openxmlformats.org/drawingml/2006/main" w="9525">
            <a:solidFill>
              <a:srgbClr val="71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EEFA1-1373-49F2-BFA6-2B683CD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2907-F62D-4B3E-A5C6-FEB157D3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拆分证据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8325C-EBEF-454E-9ECE-8721DAD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BFD0"/>
                </a:solidFill>
              </a:defRPr>
            </a:pPr>
            <a:r>
              <a:rPr sz="1275" b="0">
                <a:solidFill>
                  <a:srgbClr val="DFBFD0"/>
                </a:solidFill>
              </a:rPr>
              <a:t>事实 / 推测 / 未知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9C76E-8148-4173-98BA-38BB3D0C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D1328"/>
          </a:solidFill>
          <a:ln xmlns:a="http://schemas.openxmlformats.org/drawingml/2006/main" w="9525">
            <a:solidFill>
              <a:srgbClr val="714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C4F8E-42B4-4163-8135-928DC023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F8B8F-ACFF-452F-82F0-5D6AA4B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选择方向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57C8A-1A25-4C14-8AD4-2CA1A9F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BFD0"/>
                </a:solidFill>
              </a:defRPr>
            </a:pPr>
            <a:r>
              <a:rPr sz="1275" b="0">
                <a:solidFill>
                  <a:srgbClr val="DFBFD0"/>
                </a:solidFill>
              </a:rPr>
              <a:t>推进 / 确认 / 修复 / 退出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ABBF2-D90E-4392-8F85-716EFA09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D1328"/>
          </a:solidFill>
          <a:ln xmlns:a="http://schemas.openxmlformats.org/drawingml/2006/main" w="9525">
            <a:solidFill>
              <a:srgbClr val="714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BE2E2-03D6-413E-82F2-B1D2D4B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BB714-6C86-49AE-8429-03D864FE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生成行动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47D9B-7044-4AD1-928A-8CD130C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BFD0"/>
                </a:solidFill>
              </a:defRPr>
            </a:pPr>
            <a:r>
              <a:rPr sz="1275" b="0">
                <a:solidFill>
                  <a:srgbClr val="DFBFD0"/>
                </a:solidFill>
              </a:rPr>
              <a:t>可复制话术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5CBFD-A201-41E5-AFDF-47DBA60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D1328"/>
          </a:solidFill>
          <a:ln xmlns:a="http://schemas.openxmlformats.org/drawingml/2006/main" w="9525">
            <a:solidFill>
              <a:srgbClr val="7140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8382F-FBFB-42CA-9BD5-92646B0F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38137-3004-4449-8470-C3D74FD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定义观察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4FC47-35B0-47AA-A88C-ED932125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BFD0"/>
                </a:solidFill>
              </a:defRPr>
            </a:pPr>
            <a:r>
              <a:rPr sz="1275" b="0">
                <a:solidFill>
                  <a:srgbClr val="DFBFD0"/>
                </a:solidFill>
              </a:rPr>
              <a:t>时间窗口 + 停止条件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B3D92-1E0B-41A3-98B1-7FD4D450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47925"/>
            <a:ext cx="1676400" cy="2781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9525">
            <a:solidFill>
              <a:srgbClr val="FF16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79E27-0717-46B1-9547-9A8D84FD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C806F-D320-472D-91EB-537A542B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0BE62-29F1-4167-8002-BAA62FB7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14775"/>
            <a:ext cx="133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不自动发送消息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674C4-8AB0-4504-AAA0-61E70454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A4B9"/>
                </a:solidFill>
              </a:defRPr>
            </a:pPr>
            <a:r>
              <a:rPr sz="900" b="0">
                <a:solidFill>
                  <a:srgbClr val="CFA4B9"/>
                </a:solidFill>
              </a:rPr>
              <a:t>GOAI 2026 · Boundless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AAEE6-BDA5-4765-BAC2-748730F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FA4B9"/>
                </a:solidFill>
              </a:defRPr>
            </a:pPr>
            <a:r>
              <a:rPr sz="900" b="1">
                <a:solidFill>
                  <a:srgbClr val="CFA4B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943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E2180-32F8-4DFD-8C9C-C9E16063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03 ·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820A5-8001-4039-868F-096AE9B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21D"/>
                </a:solidFill>
              </a:defRPr>
            </a:pPr>
            <a:r>
              <a:rPr sz="2850" b="1">
                <a:solidFill>
                  <a:srgbClr val="25121D"/>
                </a:solidFill>
              </a:rPr>
              <a:t>核心体验仍然是一场正常对话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CBA0C-E0E0-4EC9-BA29-0645871D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C6A"/>
                </a:solidFill>
              </a:defRPr>
            </a:pPr>
            <a:r>
              <a:rPr sz="1500" b="0">
                <a:solidFill>
                  <a:srgbClr val="765C6A"/>
                </a:solidFill>
              </a:rPr>
              <a:t>分析结构藏在 Agent 的判断里，用户看到的是自然承接与明确下一步。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93560-528B-4554-ACCB-B400ADAC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851535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c189240a4431b"/>
          <a:srcRect xmlns:a="http://schemas.openxmlformats.org/drawingml/2006/main" l="0" t="7672" r="0" b="7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84010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DD3E-C6A4-4C5B-B16E-FA2F77C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168F"/>
                </a:solidFill>
              </a:defRPr>
            </a:pPr>
            <a:r>
              <a:rPr sz="1650" b="1">
                <a:solidFill>
                  <a:srgbClr val="FF168F"/>
                </a:solidFill>
              </a:rPr>
              <a:t>情绪先被接住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0781C-7A75-4E03-A4FF-B625B2A7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121D"/>
                </a:solidFill>
              </a:defRPr>
            </a:pPr>
            <a:r>
              <a:rPr sz="1275" b="0">
                <a:solidFill>
                  <a:srgbClr val="25121D"/>
                </a:solidFill>
              </a:rPr>
              <a:t>不急着给关系下结论。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C22F3-EBEE-4459-A1A3-EFC4754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57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0019"/>
                </a:solidFill>
              </a:defRPr>
            </a:pPr>
            <a:r>
              <a:rPr sz="1650" b="1">
                <a:solidFill>
                  <a:srgbClr val="310019"/>
                </a:solidFill>
              </a:rPr>
              <a:t>行动可以复制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4E585-EAF4-4E72-A3F8-BA21442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121D"/>
                </a:solidFill>
              </a:defRPr>
            </a:pPr>
            <a:r>
              <a:rPr sz="1275" b="0">
                <a:solidFill>
                  <a:srgbClr val="25121D"/>
                </a:solidFill>
              </a:rPr>
              <a:t>话术、48 小时观察窗口、停止条件都能直接执行。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C931B-AA75-4F77-B7EA-6BD11A4B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9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A86B"/>
                </a:solidFill>
              </a:defRPr>
            </a:pPr>
            <a:r>
              <a:rPr sz="1650" b="1">
                <a:solidFill>
                  <a:srgbClr val="19A86B"/>
                </a:solidFill>
              </a:rPr>
              <a:t>最终由用户确认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7ED35-6B1B-4EC9-8E0C-70345B9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C6A"/>
                </a:solidFill>
              </a:defRPr>
            </a:pPr>
            <a:r>
              <a:rPr sz="900" b="0">
                <a:solidFill>
                  <a:srgbClr val="765C6A"/>
                </a:solidFill>
              </a:rPr>
              <a:t>GOAI 2026 · Boundless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D25A9-B8D0-444E-9A35-FE864AE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C6A"/>
                </a:solidFill>
              </a:defRPr>
            </a:pPr>
            <a:r>
              <a:rPr sz="900" b="1">
                <a:solidFill>
                  <a:srgbClr val="765C6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2360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10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266C7-A94B-44BD-BACA-F5E7942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04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789B8-60AB-486A-895D-206805E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关系进展不是预测，是可回看的证据 K 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57B37-6236-4826-8F28-532727BE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CAD9"/>
                </a:solidFill>
              </a:defRPr>
            </a:pPr>
            <a:r>
              <a:rPr sz="1500" b="0">
                <a:solidFill>
                  <a:srgbClr val="E9CAD9"/>
                </a:solidFill>
              </a:rPr>
              <a:t>红色正向、绿色退缩、灰色证据不足；每根蜡烛都保留事实、来源与完整度。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E1979-FAB8-4408-8F76-55674ED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87100" cy="40576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7e6b594c2426c"/>
          <a:srcRect xmlns:a="http://schemas.openxmlformats.org/drawingml/2006/main" l="0" t="18056" r="0" b="18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10972800" cy="3943350"/>
          </a:xfrm>
          <a:prstGeom xmlns:a="http://schemas.openxmlformats.org/drawingml/2006/main" prst="roundRect">
            <a:avLst>
              <a:gd name="adj" fmla="val 38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67259-B56B-4D94-9F4E-79CDD2C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9252C-17FA-4558-B407-8531B3F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16 根公开证据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54057-32CC-4A80-B8F9-F424671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9595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0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A47B5-8E6A-43F9-8A9C-D3E3689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435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OHLC + 成交量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1C08E-4927-4ECB-9C57-7812966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95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00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A2B1A-0D8E-47F2-BE61-690DCD5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435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悬停查看来源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09DBC-9047-48D3-B643-495ED20B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A4B9"/>
                </a:solidFill>
              </a:defRPr>
            </a:pPr>
            <a:r>
              <a:rPr sz="900" b="0">
                <a:solidFill>
                  <a:srgbClr val="CFA4B9"/>
                </a:solidFill>
              </a:rPr>
              <a:t>GOAI 2026 · Boundless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EE47-5DCC-4E13-86B7-A564916B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FA4B9"/>
                </a:solidFill>
              </a:defRPr>
            </a:pPr>
            <a:r>
              <a:rPr sz="900" b="1">
                <a:solidFill>
                  <a:srgbClr val="CFA4B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041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D9298-1309-44CE-9196-72DF7E9F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05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2ADE-E46B-4B72-86F5-B84C3C2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21D"/>
                </a:solidFill>
              </a:defRPr>
            </a:pPr>
            <a:r>
              <a:rPr sz="2850" b="1">
                <a:solidFill>
                  <a:srgbClr val="25121D"/>
                </a:solidFill>
              </a:rPr>
              <a:t>不是仿 Harness UI，而是运行在 Harness 里的垂直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7D54B-EA4D-4848-9471-9AC7082C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C6A"/>
                </a:solidFill>
              </a:defRPr>
            </a:pPr>
            <a:r>
              <a:rPr sz="1500" b="0">
                <a:solidFill>
                  <a:srgbClr val="765C6A"/>
                </a:solidFill>
              </a:rPr>
              <a:t>官方底座负责 Agent、会话、模型、工具与插件；狗头军师 Skill 保持只读。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A094E-EFB5-4F3A-9BF2-A5EDAAA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6762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0019"/>
          </a:solidFill>
          <a:ln xmlns:a="http://schemas.openxmlformats.org/drawingml/2006/main" w="9525">
            <a:solidFill>
              <a:srgbClr val="3100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39CDD-A4A1-43CD-92E0-5BA515C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DeepSeek Harness 0.1.0-rc.6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0766F-5466-4506-BA6B-075D45C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DCE8"/>
                </a:solidFill>
              </a:defRPr>
            </a:pPr>
            <a:r>
              <a:rPr sz="1200" b="0">
                <a:solidFill>
                  <a:srgbClr val="F4DCE8"/>
                </a:solidFill>
              </a:rPr>
              <a:t>Agent · 会话 · 模型提供方 · Web runtime · plugin host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03BED-CBE1-446B-9B91-24B08159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6762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9525">
            <a:solidFill>
              <a:srgbClr val="FF16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61E77-0388-4B92-90CB-B569F2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参赛适配层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7352A-6358-4EB0-9D0B-D306D232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DCE8"/>
                </a:solidFill>
              </a:defRPr>
            </a:pPr>
            <a:r>
              <a:rPr sz="1200" b="0">
                <a:solidFill>
                  <a:srgbClr val="F4DCE8"/>
                </a:solidFill>
              </a:rPr>
              <a:t>bundle · client slots · reference / evidence / memory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CBB40-2500-46E2-A3C2-32A971FF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6762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82972-AD1C-421D-AB7D-2325E17A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21D"/>
                </a:solidFill>
              </a:defRPr>
            </a:pPr>
            <a:r>
              <a:rPr sz="1650" b="1">
                <a:solidFill>
                  <a:srgbClr val="25121D"/>
                </a:solidFill>
              </a:rPr>
              <a:t>只读狗头军师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1DCB2-A901-480D-B939-FDCBFB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5C6A"/>
                </a:solidFill>
              </a:defRPr>
            </a:pPr>
            <a:r>
              <a:rPr sz="1200" b="0">
                <a:solidFill>
                  <a:srgbClr val="765C6A"/>
                </a:solidFill>
              </a:rPr>
              <a:t>按需路由 1–3 份参考 · 既有素材与记忆脚本不被修改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F105F-318D-41D7-8395-ED5F95D8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3528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bd1ba7bb74aee"/>
          <a:srcRect xmlns:a="http://schemas.openxmlformats.org/drawingml/2006/main" l="21023" t="0" r="210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2362200"/>
            <a:ext cx="3238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132FF-4568-4451-B382-FDDD325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435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0019"/>
                </a:solidFill>
              </a:defRPr>
            </a:pPr>
            <a:r>
              <a:rPr sz="1275" b="1">
                <a:solidFill>
                  <a:srgbClr val="310019"/>
                </a:solidFill>
              </a:rPr>
              <a:t>API Key 由官方模型设置管理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0F334-402D-4B16-8BC3-452293EC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C6A"/>
                </a:solidFill>
              </a:defRPr>
            </a:pPr>
            <a:r>
              <a:rPr sz="900" b="0">
                <a:solidFill>
                  <a:srgbClr val="765C6A"/>
                </a:solidFill>
              </a:rPr>
              <a:t>GOAI 2026 · Boundless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4D464-86A4-474F-A2FF-B9E4BB95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C6A"/>
                </a:solidFill>
              </a:defRPr>
            </a:pPr>
            <a:r>
              <a:rPr sz="900" b="1">
                <a:solidFill>
                  <a:srgbClr val="765C6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4735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2647F-64B5-458C-ABC0-778EB78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06 ·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33988-0F58-4F91-B1B3-0E54661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21D"/>
                </a:solidFill>
              </a:defRPr>
            </a:pPr>
            <a:r>
              <a:rPr sz="2850" b="1">
                <a:solidFill>
                  <a:srgbClr val="25121D"/>
                </a:solidFill>
              </a:rPr>
              <a:t>高情绪场景必须先把边界做成产品能力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399EA-7470-4556-883B-CFC4125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C6A"/>
                </a:solidFill>
              </a:defRPr>
            </a:pPr>
            <a:r>
              <a:rPr sz="1500" b="0">
                <a:solidFill>
                  <a:srgbClr val="765C6A"/>
                </a:solidFill>
              </a:rPr>
              <a:t>隐私、身份和行动权不是提示词承诺，而是可检查的限制。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05348-C79B-4D6E-ABB5-85FA7BE5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971800" cy="42291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d7980a7fb400d"/>
          <a:stretch xmlns:a="http://schemas.openxmlformats.org/drawingml/2006/main"/>
        </p:blipFill>
        <p:spPr>
          <a:xfrm xmlns:a="http://schemas.openxmlformats.org/drawingml/2006/main">
            <a:off x="1201956" y="2114550"/>
            <a:ext cx="1901389" cy="41148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F716F-5EB7-4E6A-A3B5-3B639C7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168F"/>
                </a:solidFill>
              </a:defRPr>
            </a:pPr>
            <a:r>
              <a:rPr sz="1725" b="1">
                <a:solidFill>
                  <a:srgbClr val="FF168F"/>
                </a:solidFill>
              </a:rPr>
              <a:t>防认反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5F91C-3462-4BC5-9E17-E1E60DB4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90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优先 sender/member ID；元数据不足时由用户确认锚点，冲突立即停止。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E5A55-EDF3-414F-BEB1-9D6ECDDA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33700"/>
            <a:ext cx="685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7A619-D9A6-40F8-A22A-3FA66A22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0019"/>
                </a:solidFill>
              </a:defRPr>
            </a:pPr>
            <a:r>
              <a:rPr sz="1725" b="1">
                <a:solidFill>
                  <a:srgbClr val="310019"/>
                </a:solidFill>
              </a:rPr>
              <a:t>不串档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B6501-BE1E-483B-9D6E-D08E710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对象 ID 分区会话、记忆、证据和任务，最多 5 个稳定对象。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17B05-54F7-49D3-A032-DE36BC4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24300"/>
            <a:ext cx="685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9E075-4CB3-4EA9-851D-9C4050B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0019"/>
                </a:solidFill>
              </a:defRPr>
            </a:pPr>
            <a:r>
              <a:rPr sz="1725" b="1">
                <a:solidFill>
                  <a:srgbClr val="310019"/>
                </a:solidFill>
              </a:rPr>
              <a:t>不越权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BC8DD-63A9-430A-BA7E-6C930E7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不解密数据库、不后台监控、不绕过权限、不自动发送消息。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9CEAD-89F7-4254-BA1F-BA9E4A1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685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000E3-1BA2-4552-92FC-456BD2F4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0019"/>
                </a:solidFill>
              </a:defRPr>
            </a:pPr>
            <a:r>
              <a:rPr sz="1725" b="1">
                <a:solidFill>
                  <a:srgbClr val="310019"/>
                </a:solidFill>
              </a:rPr>
              <a:t>可退出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0766-92DF-46E2-A5FC-63F3C80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625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临时模式不写长期记忆；记忆可更正、暂停、撤销，对象可归档。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463B1-B9C2-4AD4-96D0-41D1D5C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05500"/>
            <a:ext cx="685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2F7A0-68C1-4130-BF4A-1E6016E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C6A"/>
                </a:solidFill>
              </a:defRPr>
            </a:pPr>
            <a:r>
              <a:rPr sz="900" b="0">
                <a:solidFill>
                  <a:srgbClr val="765C6A"/>
                </a:solidFill>
              </a:rPr>
              <a:t>GOAI 2026 · Boundless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C5DCA-339C-433B-A596-F265234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C6A"/>
                </a:solidFill>
              </a:defRPr>
            </a:pPr>
            <a:r>
              <a:rPr sz="900" b="1">
                <a:solidFill>
                  <a:srgbClr val="765C6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5508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0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B573D-C917-4BCD-A4DC-63C2D7B7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07 ·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1D6F9-027A-404B-B298-2781165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第一版已经可运行、可验证、可复核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C90C5-DB86-456B-B9F8-5DF72D88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CAD9"/>
                </a:solidFill>
              </a:defRPr>
            </a:pPr>
            <a:r>
              <a:rPr sz="1500" b="0">
                <a:solidFill>
                  <a:srgbClr val="E9CAD9"/>
                </a:solidFill>
              </a:rPr>
              <a:t>公开合成数据贯穿完整 Demo；无需真实聊天，也无需 API Key。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FD5D2-B765-42B7-BF6D-33BEFF2F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168F"/>
                </a:solidFill>
              </a:defRPr>
            </a:pPr>
            <a:r>
              <a:rPr sz="3150" b="1">
                <a:solidFill>
                  <a:srgbClr val="FF168F"/>
                </a:solidFill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681E8-16AF-4CC8-877F-A886A02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B8C9"/>
                </a:solidFill>
              </a:defRPr>
            </a:pPr>
            <a:r>
              <a:rPr sz="1350" b="0">
                <a:solidFill>
                  <a:srgbClr val="D9B8C9"/>
                </a:solidFill>
              </a:rPr>
              <a:t>自动化测试通过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FAF92-9F01-402F-ADB0-04CE40B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93EB4-D854-4943-A2B6-B89B496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B8C9"/>
                </a:solidFill>
              </a:defRPr>
            </a:pPr>
            <a:r>
              <a:rPr sz="1350" b="0">
                <a:solidFill>
                  <a:srgbClr val="D9B8C9"/>
                </a:solidFill>
              </a:rPr>
              <a:t>证据 K 线事件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1958B-D88C-450A-B010-D22DDF55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B17A8-7BEC-4F1F-9FDB-093FEFC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B8C9"/>
                </a:solidFill>
              </a:defRPr>
            </a:pPr>
            <a:r>
              <a:rPr sz="1350" b="0">
                <a:solidFill>
                  <a:srgbClr val="D9B8C9"/>
                </a:solidFill>
              </a:rPr>
              <a:t>对象上限与隔离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F7230-11FF-49D8-8E3D-B17BC24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1–3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65800-0F95-43F2-A781-30BEC90B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B8C9"/>
                </a:solidFill>
              </a:defRPr>
            </a:pPr>
            <a:r>
              <a:rPr sz="1350" b="0">
                <a:solidFill>
                  <a:srgbClr val="D9B8C9"/>
                </a:solidFill>
              </a:rPr>
              <a:t>单次按需参考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880FF-3A41-437A-A18C-ED0F49A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3733800" cy="42100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D6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eb31933324b45"/>
          <a:stretch xmlns:a="http://schemas.openxmlformats.org/drawingml/2006/main"/>
        </p:blipFill>
        <p:spPr>
          <a:xfrm xmlns:a="http://schemas.openxmlformats.org/drawingml/2006/main">
            <a:off x="8197707" y="2133600"/>
            <a:ext cx="1892586" cy="4095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86C71-58C4-449F-8CF1-D3E9C07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A4B9"/>
                </a:solidFill>
              </a:defRPr>
            </a:pPr>
            <a:r>
              <a:rPr sz="900" b="0">
                <a:solidFill>
                  <a:srgbClr val="CFA4B9"/>
                </a:solidFill>
              </a:rPr>
              <a:t>GOAI 2026 · Boundless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08BBD-75C0-4CB2-8681-AB70C84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FA4B9"/>
                </a:solidFill>
              </a:defRPr>
            </a:pPr>
            <a:r>
              <a:rPr sz="900" b="1">
                <a:solidFill>
                  <a:srgbClr val="CFA4B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0730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39F8D-1F42-438D-97D8-94A0732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168F"/>
                </a:solidFill>
              </a:defRPr>
            </a:pPr>
            <a:r>
              <a:rPr sz="1050" b="1">
                <a:solidFill>
                  <a:srgbClr val="FF168F"/>
                </a:solidFill>
              </a:rPr>
              <a:t>08 · OPEN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CBE09-AE75-4294-B90C-09FD6A7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21D"/>
                </a:solidFill>
              </a:defRPr>
            </a:pPr>
            <a:r>
              <a:rPr sz="2850" b="1">
                <a:solidFill>
                  <a:srgbClr val="25121D"/>
                </a:solidFill>
              </a:rPr>
              <a:t>开源的不是一个页面，而是一套可迁移的 Agent 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FBFA9-C0E1-4377-921E-A4E631F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5C6A"/>
                </a:solidFill>
              </a:defRPr>
            </a:pPr>
            <a:r>
              <a:rPr sz="1500" b="0">
                <a:solidFill>
                  <a:srgbClr val="765C6A"/>
                </a:solidFill>
              </a:rPr>
              <a:t>其他高情绪、低确定性的个人决策场景，可以复用同一套证据与确认协议。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BE941-13C8-4B78-AC95-4C390288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168F"/>
                </a:solidFill>
              </a:defRPr>
            </a:pPr>
            <a:r>
              <a:rPr sz="1575" b="1">
                <a:solidFill>
                  <a:srgbClr val="FF168F"/>
                </a:solidFill>
              </a:rPr>
              <a:t>Harness bundle / plugin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44AA5-99F0-415E-B503-B753A2E0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47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把垂直 Agent 镶入官方运行底座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67158-06D5-4A0B-8193-EF74D1CB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155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5CD40-721B-4B98-8BE3-B485A5C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0019"/>
                </a:solidFill>
              </a:defRPr>
            </a:pPr>
            <a:r>
              <a:rPr sz="1575" b="1">
                <a:solidFill>
                  <a:srgbClr val="310019"/>
                </a:solidFill>
              </a:rPr>
              <a:t>Reference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EEC16-2544-482B-A6D2-3740FE2B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按问题渐进加载 1–3 份领域参考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A381-710A-4230-AA98-AE25E7F8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1155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6A7E0-9F19-421D-BF12-9B7C33F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0019"/>
                </a:solidFill>
              </a:defRPr>
            </a:pPr>
            <a:r>
              <a:rPr sz="1575" b="1">
                <a:solidFill>
                  <a:srgbClr val="310019"/>
                </a:solidFill>
              </a:rPr>
              <a:t>Identity +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C1265-179E-4633-BB5D-9618AFC8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身份锚点、冲突停止、来源引用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1FA5E-D2EC-4B44-B023-BF7F348A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1155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1A7F3-9DEA-4BDE-9188-4D95EC3E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0019"/>
                </a:solidFill>
              </a:defRPr>
            </a:pPr>
            <a:r>
              <a:rPr sz="1575" b="1">
                <a:solidFill>
                  <a:srgbClr val="310019"/>
                </a:solidFill>
              </a:rPr>
              <a:t>Memory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B4C46-75B4-4BE5-A81D-8780B1E1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对象隔离、压缩、撤销与删除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31D0F-2044-47F5-AFA0-407CA73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1155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AE7F5-ABF9-46D8-93C4-7ECAA0E4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0019"/>
                </a:solidFill>
              </a:defRPr>
            </a:pPr>
            <a:r>
              <a:rPr sz="1575" b="1">
                <a:solidFill>
                  <a:srgbClr val="310019"/>
                </a:solidFill>
              </a:rPr>
              <a:t>Public Demo +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DCF7B-7099-4D58-BD55-775E174D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121D"/>
                </a:solidFill>
              </a:defRPr>
            </a:pPr>
            <a:r>
              <a:rPr sz="1350" b="0">
                <a:solidFill>
                  <a:srgbClr val="25121D"/>
                </a:solidFill>
              </a:rPr>
              <a:t>合成数据、运行入口、自动化验证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8A4A3-205F-4767-B14A-901249B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1155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BF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BA5E1-C42C-4B13-B772-821ABE7B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876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0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2FE04-8AAE-441D-B50C-7F580632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26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MIT-compatible third-party notices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61E0E-C7D1-4B96-9AD1-5A014FF7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6267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168F"/>
                </a:solidFill>
              </a:defRPr>
            </a:pPr>
            <a:r>
              <a:rPr sz="1275" b="1">
                <a:solidFill>
                  <a:srgbClr val="FF168F"/>
                </a:solidFill>
              </a:rPr>
              <a:t>github.com/powerycy/goutoujunshi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0DD0D-90C5-42D7-9093-C2638D12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C6A"/>
                </a:solidFill>
              </a:defRPr>
            </a:pPr>
            <a:r>
              <a:rPr sz="900" b="0">
                <a:solidFill>
                  <a:srgbClr val="765C6A"/>
                </a:solidFill>
              </a:rPr>
              <a:t>GOAI 2026 · Boundless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EA421-9FBA-481B-8EB4-D801172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C6A"/>
                </a:solidFill>
              </a:defRPr>
            </a:pPr>
            <a:r>
              <a:rPr sz="900" b="1">
                <a:solidFill>
                  <a:srgbClr val="765C6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8972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0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8A40B-6E80-47CE-811A-DE608F8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168F"/>
                </a:solidFill>
              </a:defRPr>
            </a:pPr>
            <a:r>
              <a:rPr sz="1350" b="1">
                <a:solidFill>
                  <a:srgbClr val="FF168F"/>
                </a:solidFill>
              </a:rPr>
              <a:t>狗头军师 · 关系决策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28CED-94AA-4CE6-B4C3-C978ED5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不是替用户猜答案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69C20-8739-4319-A345-82B50123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E2F1"/>
                </a:solidFill>
              </a:defRPr>
            </a:pPr>
            <a:r>
              <a:rPr sz="3450" b="1">
                <a:solidFill>
                  <a:srgbClr val="FFE2F1"/>
                </a:solidFill>
              </a:rPr>
              <a:t>而是帮用户做出下一步</a:t>
            </a:r>
          </a:p>
          <a:p xmlns:a="http://schemas.openxmlformats.org/drawingml/2006/main">
            <a:pPr algn="l">
              <a:defRPr sz="3450" b="1">
                <a:solidFill>
                  <a:srgbClr val="FFE2F1"/>
                </a:solidFill>
              </a:defRPr>
            </a:pPr>
            <a:r>
              <a:rPr sz="3450" b="1">
                <a:solidFill>
                  <a:srgbClr val="FFE2F1"/>
                </a:solidFill>
              </a:rPr>
              <a:t>可验证的选择。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74258-26A4-43D9-92ED-D5F8465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57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16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1DFD-9E1F-4A12-B1B8-2BF306D1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BCADA"/>
                </a:solidFill>
              </a:defRPr>
            </a:pPr>
            <a:r>
              <a:rPr sz="1500" b="0">
                <a:solidFill>
                  <a:srgbClr val="EBCADA"/>
                </a:solidFill>
              </a:rPr>
              <a:t>已完成：真实 Harness 集成 · 公开 Demo · 证据 K 线 · 安全边界 · 10/10 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8F14-0390-49F6-9FCC-FE623DF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下一步：以真实用户共创扩展个人终端中的高情绪决策场景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CE28C-DF40-44F6-949A-11C2C408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168F"/>
                </a:solidFill>
              </a:defRPr>
            </a:pPr>
            <a:r>
              <a:rPr sz="1275" b="1">
                <a:solidFill>
                  <a:srgbClr val="FF168F"/>
                </a:solidFill>
              </a:rPr>
              <a:t>github.com/powerycy/goutoujunshi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95613-C411-4D11-AED2-3FCD85B3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A4B9"/>
                </a:solidFill>
              </a:defRPr>
            </a:pPr>
            <a:r>
              <a:rPr sz="900" b="0">
                <a:solidFill>
                  <a:srgbClr val="CFA4B9"/>
                </a:solidFill>
              </a:rPr>
              <a:t>GOAI 2026 · Boundless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62855-6A04-45EF-B36F-E4DA2076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FA4B9"/>
                </a:solidFill>
              </a:defRPr>
            </a:pPr>
            <a:r>
              <a:rPr sz="900" b="1">
                <a:solidFill>
                  <a:srgbClr val="CFA4B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7051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2026-08-16T07:13:27.9320000Z</dcterms:created>
  <dcterms:modified xsi:type="dcterms:W3CDTF">2026-08-16T07:13:27.9320000Z</dcterms:modified>
</coreProperties>
</file>